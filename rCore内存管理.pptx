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2"/>
  </p:notesMasterIdLst>
  <p:sldIdLst>
    <p:sldId id="256" r:id="rId2"/>
    <p:sldId id="327" r:id="rId3"/>
    <p:sldId id="318" r:id="rId4"/>
    <p:sldId id="257" r:id="rId5"/>
    <p:sldId id="258" r:id="rId6"/>
    <p:sldId id="259" r:id="rId7"/>
    <p:sldId id="260" r:id="rId8"/>
    <p:sldId id="261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319" r:id="rId17"/>
    <p:sldId id="320" r:id="rId18"/>
    <p:sldId id="321" r:id="rId19"/>
    <p:sldId id="322" r:id="rId20"/>
    <p:sldId id="323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280" r:id="rId29"/>
    <p:sldId id="279" r:id="rId30"/>
    <p:sldId id="324" r:id="rId31"/>
    <p:sldId id="325" r:id="rId32"/>
    <p:sldId id="326" r:id="rId33"/>
    <p:sldId id="271" r:id="rId34"/>
    <p:sldId id="272" r:id="rId35"/>
    <p:sldId id="273" r:id="rId36"/>
    <p:sldId id="274" r:id="rId37"/>
    <p:sldId id="275" r:id="rId38"/>
    <p:sldId id="276" r:id="rId39"/>
    <p:sldId id="277" r:id="rId40"/>
    <p:sldId id="278" r:id="rId41"/>
    <p:sldId id="328" r:id="rId42"/>
    <p:sldId id="329" r:id="rId43"/>
    <p:sldId id="288" r:id="rId44"/>
    <p:sldId id="289" r:id="rId45"/>
    <p:sldId id="304" r:id="rId46"/>
    <p:sldId id="302" r:id="rId47"/>
    <p:sldId id="305" r:id="rId48"/>
    <p:sldId id="306" r:id="rId49"/>
    <p:sldId id="307" r:id="rId50"/>
    <p:sldId id="308" r:id="rId5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05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2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715928" cy="2387600"/>
          </a:xfrm>
        </p:spPr>
        <p:txBody>
          <a:bodyPr/>
          <a:lstStyle/>
          <a:p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2026</a:t>
            </a:r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年春夏学期操作系统训练营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940299"/>
            <a:ext cx="9144000" cy="1590675"/>
          </a:xfrm>
        </p:spPr>
        <p:txBody>
          <a:bodyPr/>
          <a:lstStyle/>
          <a:p>
            <a:r>
              <a:rPr lang="zh-CN" altLang="en-US" sz="1600" dirty="0"/>
              <a:t>周雨</a:t>
            </a:r>
          </a:p>
          <a:p>
            <a:r>
              <a:rPr lang="en-US" altLang="zh-CN" sz="2000" dirty="0">
                <a:sym typeface="+mn-ea"/>
              </a:rPr>
              <a:t>2026.3.27</a:t>
            </a:r>
            <a:endParaRPr lang="en-US" altLang="zh-CN" sz="2000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1524000" y="3699481"/>
            <a:ext cx="9937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专业阶段第二课</a:t>
            </a:r>
            <a:r>
              <a:rPr lang="en-US" altLang="zh-CN" dirty="0"/>
              <a:t>:</a:t>
            </a:r>
            <a:r>
              <a:rPr lang="en-US" altLang="zh-CN" dirty="0" err="1"/>
              <a:t>rCore</a:t>
            </a:r>
            <a:r>
              <a:rPr lang="zh-CN" altLang="en-US" dirty="0"/>
              <a:t>内存管理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50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080760" y="3463417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目录4</a:t>
            </a:r>
            <a:endParaRPr lang="en-US" sz="900" dirty="0"/>
          </a:p>
        </p:txBody>
      </p:sp>
      <p:sp>
        <p:nvSpPr>
          <p:cNvPr id="42" name="文本框 41"/>
          <p:cNvSpPr txBox="1"/>
          <p:nvPr/>
        </p:nvSpPr>
        <p:spPr>
          <a:xfrm>
            <a:off x="394970" y="1243965"/>
            <a:ext cx="6181725" cy="1473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Sv39 与地址翻译(3-8</a:t>
            </a:r>
            <a:r>
              <a:rPr lang="zh-CN" altLang="en-US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页</a:t>
            </a:r>
            <a:r>
              <a:rPr lang="en-US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用户进程和内核</a:t>
            </a:r>
            <a:r>
              <a:rPr lang="en-US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地址空间与 ELF 装载(9-20</a:t>
            </a:r>
            <a:r>
              <a:rPr lang="zh-CN" altLang="en-US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页</a:t>
            </a:r>
            <a:r>
              <a:rPr lang="en-US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内核基本数据结构</a:t>
            </a:r>
            <a:r>
              <a:rPr lang="en-US" altLang="zh-CN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,</a:t>
            </a:r>
            <a:r>
              <a:rPr lang="en-US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页表实现,映射语义与 RAII(21-32</a:t>
            </a:r>
            <a:r>
              <a:rPr lang="zh-CN" altLang="en-US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页</a:t>
            </a:r>
            <a:r>
              <a:rPr lang="en-US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用户进程和内核的地址空间的建立</a:t>
            </a:r>
            <a:r>
              <a:rPr lang="en-US" altLang="zh-CN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(33-42</a:t>
            </a:r>
            <a:r>
              <a:rPr lang="zh-CN" altLang="en-US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页</a:t>
            </a:r>
            <a:r>
              <a:rPr lang="en-US" altLang="zh-CN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)</a:t>
            </a:r>
            <a:endParaRPr lang="zh-CN" altLang="en-US" b="1" dirty="0">
              <a:solidFill>
                <a:srgbClr val="1F2A3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开启页表和切换页表</a:t>
            </a:r>
            <a:r>
              <a:rPr lang="en-US" altLang="zh-CN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(43-51</a:t>
            </a:r>
            <a:r>
              <a:rPr lang="zh-CN" altLang="en-US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页</a:t>
            </a:r>
            <a:r>
              <a:rPr lang="en-US" altLang="zh-CN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)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Sv39 专章总览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32/54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7182" y="1572768"/>
            <a:ext cx="2143125" cy="658368"/>
          </a:xfrm>
          <a:prstGeom prst="rect">
            <a:avLst/>
          </a:prstGeom>
          <a:solidFill>
            <a:srgbClr val="FBFAF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03758" y="1719072"/>
            <a:ext cx="2069973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符号扩展</a:t>
            </a:r>
            <a:endParaRPr lang="en-US" sz="1160" dirty="0"/>
          </a:p>
        </p:txBody>
      </p:sp>
      <p:sp>
        <p:nvSpPr>
          <p:cNvPr id="10" name="Text 8"/>
          <p:cNvSpPr/>
          <p:nvPr/>
        </p:nvSpPr>
        <p:spPr>
          <a:xfrm>
            <a:off x="603758" y="1975104"/>
            <a:ext cx="2069973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75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63..39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2710307" y="1572768"/>
            <a:ext cx="771525" cy="658368"/>
          </a:xfrm>
          <a:prstGeom prst="rect">
            <a:avLst/>
          </a:prstGeom>
          <a:solidFill>
            <a:srgbClr val="D8E7F6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746883" y="1719072"/>
            <a:ext cx="698373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VPN[2]</a:t>
            </a:r>
            <a:endParaRPr lang="en-US" sz="1160" dirty="0"/>
          </a:p>
        </p:txBody>
      </p:sp>
      <p:sp>
        <p:nvSpPr>
          <p:cNvPr id="13" name="Text 11"/>
          <p:cNvSpPr/>
          <p:nvPr/>
        </p:nvSpPr>
        <p:spPr>
          <a:xfrm>
            <a:off x="2746883" y="1975104"/>
            <a:ext cx="698373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75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38..30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481832" y="1572768"/>
            <a:ext cx="771525" cy="658368"/>
          </a:xfrm>
          <a:prstGeom prst="rect">
            <a:avLst/>
          </a:prstGeom>
          <a:solidFill>
            <a:srgbClr val="D8E7F6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518408" y="1719072"/>
            <a:ext cx="698373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VPN[1]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3518408" y="1975104"/>
            <a:ext cx="698373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75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29..21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253357" y="1572768"/>
            <a:ext cx="771525" cy="658368"/>
          </a:xfrm>
          <a:prstGeom prst="rect">
            <a:avLst/>
          </a:prstGeom>
          <a:solidFill>
            <a:srgbClr val="D8E7F6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289933" y="1719072"/>
            <a:ext cx="698373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VPN[0]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4289933" y="1975104"/>
            <a:ext cx="698373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75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20..12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024882" y="1572768"/>
            <a:ext cx="1028700" cy="658368"/>
          </a:xfrm>
          <a:prstGeom prst="rect">
            <a:avLst/>
          </a:prstGeom>
          <a:solidFill>
            <a:srgbClr val="DCE9D8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061458" y="1719072"/>
            <a:ext cx="95554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offset</a:t>
            </a:r>
            <a:endParaRPr lang="en-US" sz="1160" dirty="0"/>
          </a:p>
        </p:txBody>
      </p:sp>
      <p:sp>
        <p:nvSpPr>
          <p:cNvPr id="22" name="Text 20"/>
          <p:cNvSpPr/>
          <p:nvPr/>
        </p:nvSpPr>
        <p:spPr>
          <a:xfrm>
            <a:off x="5061458" y="1975104"/>
            <a:ext cx="955548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75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11..0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656832" y="1554480"/>
            <a:ext cx="2788920" cy="475488"/>
          </a:xfrm>
          <a:prstGeom prst="rect">
            <a:avLst/>
          </a:prstGeom>
          <a:solidFill>
            <a:srgbClr val="F6E0C9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748272" y="170992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1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satp.PPN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7955280" y="2039112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2500"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56832" y="2231136"/>
            <a:ext cx="2788920" cy="475488"/>
          </a:xfrm>
          <a:prstGeom prst="rect">
            <a:avLst/>
          </a:prstGeom>
          <a:solidFill>
            <a:srgbClr val="D8E7F6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748272" y="2386584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1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VPN[2]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7955280" y="2715768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2500"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56832" y="2907792"/>
            <a:ext cx="2788920" cy="475488"/>
          </a:xfrm>
          <a:prstGeom prst="rect">
            <a:avLst/>
          </a:prstGeom>
          <a:solidFill>
            <a:srgbClr val="D8E7F6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748272" y="3063240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1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VPN[1]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7955280" y="3392424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2500"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56832" y="3584448"/>
            <a:ext cx="2788920" cy="475488"/>
          </a:xfrm>
          <a:prstGeom prst="rect">
            <a:avLst/>
          </a:prstGeom>
          <a:solidFill>
            <a:srgbClr val="D8E7F6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748272" y="3739896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1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VPN[0]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7955280" y="4069080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2500"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56832" y="4261104"/>
            <a:ext cx="2788920" cy="475488"/>
          </a:xfrm>
          <a:prstGeom prst="rect">
            <a:avLst/>
          </a:prstGeom>
          <a:solidFill>
            <a:srgbClr val="DCE9D8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748272" y="4416552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1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叶子 PTE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7955280" y="4745736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2500"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656832" y="4937760"/>
            <a:ext cx="2788920" cy="475488"/>
          </a:xfrm>
          <a:prstGeom prst="rect">
            <a:avLst/>
          </a:prstGeom>
          <a:solidFill>
            <a:srgbClr val="F3E7B3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748272" y="509320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1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PPN + offset</a:t>
            </a:r>
            <a:endParaRPr lang="en-US" sz="1220" dirty="0"/>
          </a:p>
        </p:txBody>
      </p:sp>
      <p:sp>
        <p:nvSpPr>
          <p:cNvPr id="3" name="文本框 2"/>
          <p:cNvSpPr txBox="1"/>
          <p:nvPr/>
        </p:nvSpPr>
        <p:spPr>
          <a:xfrm>
            <a:off x="1859915" y="1142365"/>
            <a:ext cx="3366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虚拟内存地址</a:t>
            </a:r>
          </a:p>
        </p:txBody>
      </p:sp>
      <p:sp>
        <p:nvSpPr>
          <p:cNvPr id="7" name="Shape 27"/>
          <p:cNvSpPr/>
          <p:nvPr/>
        </p:nvSpPr>
        <p:spPr>
          <a:xfrm>
            <a:off x="752602" y="3639185"/>
            <a:ext cx="3464560" cy="566928"/>
          </a:xfrm>
          <a:prstGeom prst="rect">
            <a:avLst/>
          </a:prstGeom>
          <a:solidFill>
            <a:srgbClr val="F3E7B3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28"/>
          <p:cNvSpPr/>
          <p:nvPr/>
        </p:nvSpPr>
        <p:spPr>
          <a:xfrm>
            <a:off x="789178" y="3785489"/>
            <a:ext cx="339140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PPN</a:t>
            </a:r>
            <a:endParaRPr lang="en-US" sz="1160" dirty="0"/>
          </a:p>
        </p:txBody>
      </p:sp>
      <p:sp>
        <p:nvSpPr>
          <p:cNvPr id="53" name="Text 29"/>
          <p:cNvSpPr/>
          <p:nvPr/>
        </p:nvSpPr>
        <p:spPr>
          <a:xfrm>
            <a:off x="789178" y="4041521"/>
            <a:ext cx="3391408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75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53..10 / 44 bits</a:t>
            </a:r>
            <a:endParaRPr lang="en-US" sz="880" dirty="0"/>
          </a:p>
        </p:txBody>
      </p:sp>
      <p:sp>
        <p:nvSpPr>
          <p:cNvPr id="54" name="Shape 30"/>
          <p:cNvSpPr/>
          <p:nvPr/>
        </p:nvSpPr>
        <p:spPr>
          <a:xfrm>
            <a:off x="4217162" y="3639185"/>
            <a:ext cx="386080" cy="566928"/>
          </a:xfrm>
          <a:prstGeom prst="rect">
            <a:avLst/>
          </a:prstGeom>
          <a:solidFill>
            <a:srgbClr val="FBFAF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31"/>
          <p:cNvSpPr/>
          <p:nvPr/>
        </p:nvSpPr>
        <p:spPr>
          <a:xfrm>
            <a:off x="4248658" y="3639185"/>
            <a:ext cx="31800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RSW</a:t>
            </a:r>
            <a:endParaRPr lang="en-US" sz="1160" dirty="0"/>
          </a:p>
        </p:txBody>
      </p:sp>
      <p:sp>
        <p:nvSpPr>
          <p:cNvPr id="56" name="Text 32"/>
          <p:cNvSpPr/>
          <p:nvPr/>
        </p:nvSpPr>
        <p:spPr>
          <a:xfrm>
            <a:off x="4248658" y="4001663"/>
            <a:ext cx="318008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75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9..8</a:t>
            </a:r>
            <a:endParaRPr lang="en-US" sz="880" dirty="0"/>
          </a:p>
        </p:txBody>
      </p:sp>
      <p:sp>
        <p:nvSpPr>
          <p:cNvPr id="57" name="Shape 33"/>
          <p:cNvSpPr/>
          <p:nvPr/>
        </p:nvSpPr>
        <p:spPr>
          <a:xfrm>
            <a:off x="4603242" y="3639185"/>
            <a:ext cx="629920" cy="566928"/>
          </a:xfrm>
          <a:prstGeom prst="rect">
            <a:avLst/>
          </a:prstGeom>
          <a:solidFill>
            <a:srgbClr val="D8E7F6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34"/>
          <p:cNvSpPr/>
          <p:nvPr/>
        </p:nvSpPr>
        <p:spPr>
          <a:xfrm>
            <a:off x="4611370" y="3785489"/>
            <a:ext cx="55676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7500" lnSpcReduction="20000"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 A G U X W R V</a:t>
            </a:r>
            <a:endParaRPr lang="en-US" sz="1160" dirty="0"/>
          </a:p>
        </p:txBody>
      </p:sp>
      <p:sp>
        <p:nvSpPr>
          <p:cNvPr id="59" name="Text 35"/>
          <p:cNvSpPr/>
          <p:nvPr/>
        </p:nvSpPr>
        <p:spPr>
          <a:xfrm>
            <a:off x="4611370" y="4041521"/>
            <a:ext cx="556768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75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7..0</a:t>
            </a:r>
            <a:endParaRPr lang="en-US" sz="880" dirty="0"/>
          </a:p>
        </p:txBody>
      </p:sp>
      <p:sp>
        <p:nvSpPr>
          <p:cNvPr id="60" name="文本框 59"/>
          <p:cNvSpPr txBox="1"/>
          <p:nvPr/>
        </p:nvSpPr>
        <p:spPr>
          <a:xfrm>
            <a:off x="752348" y="3269322"/>
            <a:ext cx="4443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PageTableEntry</a:t>
            </a:r>
            <a:endParaRPr lang="zh-CN" altLang="en-US" dirty="0"/>
          </a:p>
        </p:txBody>
      </p:sp>
      <p:sp>
        <p:nvSpPr>
          <p:cNvPr id="41" name="Shape 6"/>
          <p:cNvSpPr/>
          <p:nvPr/>
        </p:nvSpPr>
        <p:spPr>
          <a:xfrm>
            <a:off x="536448" y="5659120"/>
            <a:ext cx="622935" cy="749808"/>
          </a:xfrm>
          <a:prstGeom prst="rect">
            <a:avLst/>
          </a:prstGeom>
          <a:solidFill>
            <a:srgbClr val="F3E7B3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7"/>
          <p:cNvSpPr/>
          <p:nvPr/>
        </p:nvSpPr>
        <p:spPr>
          <a:xfrm>
            <a:off x="573024" y="5805424"/>
            <a:ext cx="549783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MODE</a:t>
            </a:r>
            <a:endParaRPr lang="en-US" sz="1160" dirty="0"/>
          </a:p>
        </p:txBody>
      </p:sp>
      <p:sp>
        <p:nvSpPr>
          <p:cNvPr id="43" name="Text 8"/>
          <p:cNvSpPr/>
          <p:nvPr/>
        </p:nvSpPr>
        <p:spPr>
          <a:xfrm>
            <a:off x="573024" y="6061456"/>
            <a:ext cx="549783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63..60 / 4 bits</a:t>
            </a:r>
            <a:endParaRPr lang="en-US" sz="880" dirty="0"/>
          </a:p>
        </p:txBody>
      </p:sp>
      <p:sp>
        <p:nvSpPr>
          <p:cNvPr id="44" name="Shape 9"/>
          <p:cNvSpPr/>
          <p:nvPr/>
        </p:nvSpPr>
        <p:spPr>
          <a:xfrm>
            <a:off x="1159383" y="5659120"/>
            <a:ext cx="2491740" cy="749808"/>
          </a:xfrm>
          <a:prstGeom prst="rect">
            <a:avLst/>
          </a:prstGeom>
          <a:solidFill>
            <a:srgbClr val="FBFAF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10"/>
          <p:cNvSpPr/>
          <p:nvPr/>
        </p:nvSpPr>
        <p:spPr>
          <a:xfrm>
            <a:off x="1195959" y="5805424"/>
            <a:ext cx="241858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ASID</a:t>
            </a:r>
            <a:endParaRPr lang="en-US" sz="1160" dirty="0"/>
          </a:p>
        </p:txBody>
      </p:sp>
      <p:sp>
        <p:nvSpPr>
          <p:cNvPr id="46" name="Text 11"/>
          <p:cNvSpPr/>
          <p:nvPr/>
        </p:nvSpPr>
        <p:spPr>
          <a:xfrm>
            <a:off x="1195959" y="6061456"/>
            <a:ext cx="2418588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75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59..44 / 16 bits</a:t>
            </a:r>
            <a:endParaRPr lang="en-US" sz="880" dirty="0"/>
          </a:p>
        </p:txBody>
      </p:sp>
      <p:sp>
        <p:nvSpPr>
          <p:cNvPr id="47" name="Shape 12"/>
          <p:cNvSpPr/>
          <p:nvPr/>
        </p:nvSpPr>
        <p:spPr>
          <a:xfrm>
            <a:off x="3651123" y="5659120"/>
            <a:ext cx="6852285" cy="749808"/>
          </a:xfrm>
          <a:prstGeom prst="rect">
            <a:avLst/>
          </a:prstGeom>
          <a:solidFill>
            <a:srgbClr val="D8E7F6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13"/>
          <p:cNvSpPr/>
          <p:nvPr/>
        </p:nvSpPr>
        <p:spPr>
          <a:xfrm>
            <a:off x="3687699" y="5805424"/>
            <a:ext cx="6779133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PPN</a:t>
            </a:r>
            <a:endParaRPr lang="en-US" sz="1160" dirty="0"/>
          </a:p>
        </p:txBody>
      </p:sp>
      <p:sp>
        <p:nvSpPr>
          <p:cNvPr id="49" name="Text 14"/>
          <p:cNvSpPr/>
          <p:nvPr/>
        </p:nvSpPr>
        <p:spPr>
          <a:xfrm>
            <a:off x="3687699" y="6061456"/>
            <a:ext cx="6779133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75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43..0 / 44 bits</a:t>
            </a:r>
            <a:endParaRPr lang="en-US" sz="880" dirty="0"/>
          </a:p>
        </p:txBody>
      </p:sp>
      <p:sp>
        <p:nvSpPr>
          <p:cNvPr id="50" name="文本框 49"/>
          <p:cNvSpPr txBox="1"/>
          <p:nvPr/>
        </p:nvSpPr>
        <p:spPr>
          <a:xfrm>
            <a:off x="606425" y="5257800"/>
            <a:ext cx="3820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satp</a:t>
            </a:r>
            <a:r>
              <a:rPr lang="zh-CN" altLang="en-US"/>
              <a:t>寄存器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6922770" y="1040765"/>
            <a:ext cx="2252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页表寻址过程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什么是 Sv39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2/54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81528" y="139903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高地址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81528" y="594360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低地址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1248" y="1417320"/>
            <a:ext cx="2057400" cy="4709160"/>
          </a:xfrm>
          <a:prstGeom prst="rect">
            <a:avLst/>
          </a:prstGeom>
          <a:solidFill>
            <a:srgbClr val="FFFFFF"/>
          </a:solidFill>
          <a:ln w="1524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841248" y="1417320"/>
            <a:ext cx="2057400" cy="1130198"/>
          </a:xfrm>
          <a:prstGeom prst="rect">
            <a:avLst/>
          </a:prstGeom>
          <a:solidFill>
            <a:srgbClr val="F6E0C9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14400" y="1463040"/>
            <a:ext cx="1911096" cy="10387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高地址合法区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2898648" y="1982419"/>
            <a:ext cx="292608" cy="0"/>
          </a:xfrm>
          <a:prstGeom prst="line">
            <a:avLst/>
          </a:prstGeom>
          <a:noFill/>
          <a:ln w="10160">
            <a:solidFill>
              <a:srgbClr val="59647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246120" y="1836115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bit38=1，63..39 全 1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841248" y="2547518"/>
            <a:ext cx="2057400" cy="2448763"/>
          </a:xfrm>
          <a:prstGeom prst="rect">
            <a:avLst/>
          </a:prstGeom>
          <a:solidFill>
            <a:srgbClr val="FFFFFF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14400" y="2593238"/>
            <a:ext cx="1911096" cy="235732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中间空洞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 </a:t>
            </a:r>
            <a:r>
              <a:rPr lang="zh-CN" altLang="en-US" sz="114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有效映射 </a:t>
            </a:r>
            <a:r>
              <a:rPr lang="en-US" sz="114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区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2898648" y="3771900"/>
            <a:ext cx="292608" cy="0"/>
          </a:xfrm>
          <a:prstGeom prst="line">
            <a:avLst/>
          </a:prstGeom>
          <a:noFill/>
          <a:ln w="10160">
            <a:solidFill>
              <a:srgbClr val="59647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246120" y="3625596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不满足符号扩展，地址无效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841248" y="4996282"/>
            <a:ext cx="2057400" cy="1130198"/>
          </a:xfrm>
          <a:prstGeom prst="rect">
            <a:avLst/>
          </a:prstGeom>
          <a:solidFill>
            <a:srgbClr val="D8E7F6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14400" y="5042002"/>
            <a:ext cx="1911096" cy="10387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低地址合法区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2898648" y="5561381"/>
            <a:ext cx="292608" cy="0"/>
          </a:xfrm>
          <a:prstGeom prst="line">
            <a:avLst/>
          </a:prstGeom>
          <a:noFill/>
          <a:ln w="10160">
            <a:solidFill>
              <a:srgbClr val="59647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246120" y="5415077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bit38=0，63..39 全 0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2898648" y="1435608"/>
            <a:ext cx="237744" cy="0"/>
          </a:xfrm>
          <a:prstGeom prst="line">
            <a:avLst/>
          </a:prstGeom>
          <a:noFill/>
          <a:ln w="10160">
            <a:solidFill>
              <a:srgbClr val="59647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3191383" y="1581531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0xffff_ffff_ffff_ffff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2898648" y="2547518"/>
            <a:ext cx="237744" cy="0"/>
          </a:xfrm>
          <a:prstGeom prst="line">
            <a:avLst/>
          </a:prstGeom>
          <a:noFill/>
          <a:ln w="10160">
            <a:solidFill>
              <a:srgbClr val="59647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310128" y="2474366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0xffff_ffc0_0000_0000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2898648" y="4996282"/>
            <a:ext cx="237744" cy="0"/>
          </a:xfrm>
          <a:prstGeom prst="line">
            <a:avLst/>
          </a:prstGeom>
          <a:noFill/>
          <a:ln w="10160">
            <a:solidFill>
              <a:srgbClr val="59647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3310128" y="4923130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0x0000_003f_ffff_ffff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2898648" y="6126480"/>
            <a:ext cx="237744" cy="0"/>
          </a:xfrm>
          <a:prstGeom prst="line">
            <a:avLst/>
          </a:prstGeom>
          <a:noFill/>
          <a:ln w="10160">
            <a:solidFill>
              <a:srgbClr val="59647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3245993" y="6199378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0x0000_0000_0000_0000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2945764" y="2728570"/>
            <a:ext cx="2011680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中间空洞范围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0x0000_0040_0000_0000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~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0xffff_ffbf_ffff_ffff</a:t>
            </a:r>
            <a:endParaRPr lang="en-US" sz="940" dirty="0"/>
          </a:p>
        </p:txBody>
      </p:sp>
      <p:sp>
        <p:nvSpPr>
          <p:cNvPr id="32" name="Text 30"/>
          <p:cNvSpPr/>
          <p:nvPr/>
        </p:nvSpPr>
        <p:spPr>
          <a:xfrm>
            <a:off x="5230368" y="1408176"/>
            <a:ext cx="5687568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Sv39 中的 “Sv” 表示 Supervisor Virtual Memory，“39” 表示参与地址翻译的有效虚拟地址宽度是 39 bit。它不是说处理器只有 39 位地址，而是说在这种分页模式下，硬件只认可满足符号扩展规则的 39 位规范虚拟地址。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30749" y="2404237"/>
            <a:ext cx="4535424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Sv39 把虚拟地址拆成 27 bit 的 VPN 和 12 bit 的页内偏移；这 27 bit 又被切成 `VPN[2] / VPN[1] / VPN[0]` 三段，分别作为三级页表索引。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30749" y="3355213"/>
            <a:ext cx="4535424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bit38 是 Sv39 规范地址的符号位，因此 bit63..39 必须全部复制 bit38。于是只剩下“低地址合法区”和“高地址合法区”两大片，中间形成巨大空洞。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30749" y="4306189"/>
            <a:ext cx="4535424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CPU 做地址翻译时，会先根据 satp 找到根页表，再依次使用 `VPN[2]`、`VPN[1]`、`VPN[0]` 下钻三级页表，最后把得到的物理页号与 offset 拼成物理地址。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230749" y="5257165"/>
            <a:ext cx="4535424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正是利用这个“上方有稳定高地址区、下方有常规低地址区”的结构，把用户程序放在低地址，把 trampoline、TrapContext、kernel stack 等切换相关内容放在高地址附近。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虚拟地址具体组成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572768"/>
            <a:ext cx="3911203" cy="749808"/>
          </a:xfrm>
          <a:prstGeom prst="rect">
            <a:avLst/>
          </a:prstGeom>
          <a:solidFill>
            <a:srgbClr val="FBFAF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59536" y="1719072"/>
            <a:ext cx="3838051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符号扩展</a:t>
            </a:r>
            <a:endParaRPr lang="en-US" sz="1160" dirty="0"/>
          </a:p>
        </p:txBody>
      </p:sp>
      <p:sp>
        <p:nvSpPr>
          <p:cNvPr id="10" name="Text 8"/>
          <p:cNvSpPr/>
          <p:nvPr/>
        </p:nvSpPr>
        <p:spPr>
          <a:xfrm>
            <a:off x="859536" y="1975104"/>
            <a:ext cx="3838051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63..39 / 25 bits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734163" y="1572768"/>
            <a:ext cx="1408033" cy="749808"/>
          </a:xfrm>
          <a:prstGeom prst="rect">
            <a:avLst/>
          </a:prstGeom>
          <a:solidFill>
            <a:srgbClr val="D8E7F6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770739" y="1719072"/>
            <a:ext cx="1334881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VPN[2]</a:t>
            </a:r>
            <a:endParaRPr lang="en-US" sz="1160" dirty="0"/>
          </a:p>
        </p:txBody>
      </p:sp>
      <p:sp>
        <p:nvSpPr>
          <p:cNvPr id="13" name="Text 11"/>
          <p:cNvSpPr/>
          <p:nvPr/>
        </p:nvSpPr>
        <p:spPr>
          <a:xfrm>
            <a:off x="4770739" y="1975104"/>
            <a:ext cx="1334881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38..30 / 9 bits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142196" y="1572768"/>
            <a:ext cx="1408033" cy="749808"/>
          </a:xfrm>
          <a:prstGeom prst="rect">
            <a:avLst/>
          </a:prstGeom>
          <a:solidFill>
            <a:srgbClr val="D8E7F6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178772" y="1719072"/>
            <a:ext cx="1334881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VPN[1]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6178772" y="1975104"/>
            <a:ext cx="1334881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29..21 / 9 bits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550229" y="1572768"/>
            <a:ext cx="1408033" cy="749808"/>
          </a:xfrm>
          <a:prstGeom prst="rect">
            <a:avLst/>
          </a:prstGeom>
          <a:solidFill>
            <a:srgbClr val="D8E7F6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586805" y="1719072"/>
            <a:ext cx="1334881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VPN[0]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7586805" y="1975104"/>
            <a:ext cx="1334881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20..12 / 9 bits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8958263" y="1572768"/>
            <a:ext cx="1877377" cy="749808"/>
          </a:xfrm>
          <a:prstGeom prst="rect">
            <a:avLst/>
          </a:prstGeom>
          <a:solidFill>
            <a:srgbClr val="DCE9D8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994839" y="1719072"/>
            <a:ext cx="1804225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offset</a:t>
            </a:r>
            <a:endParaRPr lang="en-US" sz="1160" dirty="0"/>
          </a:p>
        </p:txBody>
      </p:sp>
      <p:sp>
        <p:nvSpPr>
          <p:cNvPr id="22" name="Text 20"/>
          <p:cNvSpPr/>
          <p:nvPr/>
        </p:nvSpPr>
        <p:spPr>
          <a:xfrm>
            <a:off x="8994839" y="1975104"/>
            <a:ext cx="1804225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11..0 / 12 bits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896112" y="2743200"/>
            <a:ext cx="100584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941832" y="2788920"/>
            <a:ext cx="987552" cy="694944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87552" y="2843784"/>
            <a:ext cx="896112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 是什么</a:t>
            </a:r>
            <a:endParaRPr lang="en-US" sz="1170" dirty="0"/>
          </a:p>
        </p:txBody>
      </p:sp>
      <p:sp>
        <p:nvSpPr>
          <p:cNvPr id="26" name="Text 24"/>
          <p:cNvSpPr/>
          <p:nvPr/>
        </p:nvSpPr>
        <p:spPr>
          <a:xfrm>
            <a:off x="2029968" y="2816352"/>
            <a:ext cx="886968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把虚拟地址去掉最低 12 位页内偏移之后，剩下的就是虚拟页号 VPN，也可以写成 VPN = VA &gt;&gt; 12。后续页表 walk 真正关心的是它，而不是整个字节地址。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96112" y="3621024"/>
            <a:ext cx="100584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941832" y="3666744"/>
            <a:ext cx="987552" cy="694944"/>
          </a:xfrm>
          <a:prstGeom prst="rect">
            <a:avLst/>
          </a:prstGeom>
          <a:solidFill>
            <a:srgbClr val="536B45"/>
          </a:solidFill>
          <a:ln w="10160">
            <a:solidFill>
              <a:srgbClr val="536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987552" y="3721608"/>
            <a:ext cx="896112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三级切分</a:t>
            </a:r>
            <a:endParaRPr lang="en-US" sz="1170" dirty="0"/>
          </a:p>
        </p:txBody>
      </p:sp>
      <p:sp>
        <p:nvSpPr>
          <p:cNvPr id="30" name="Text 28"/>
          <p:cNvSpPr/>
          <p:nvPr/>
        </p:nvSpPr>
        <p:spPr>
          <a:xfrm>
            <a:off x="2029968" y="3694176"/>
            <a:ext cx="886968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Sv39 把同一个 VPN 再切成三个 9-bit 字段：VPN[2]、VPN[1]、VPN[0]。它们不是三个独立页号，而是同一个 VPN 的三个 9-bit 切片，也就是三级页表索引。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96112" y="4498848"/>
            <a:ext cx="100584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941832" y="4544568"/>
            <a:ext cx="987552" cy="694944"/>
          </a:xfrm>
          <a:prstGeom prst="rect">
            <a:avLst/>
          </a:prstGeom>
          <a:solidFill>
            <a:srgbClr val="A96832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987552" y="4599432"/>
            <a:ext cx="896112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各自作用</a:t>
            </a:r>
            <a:endParaRPr lang="en-US" sz="1170" dirty="0"/>
          </a:p>
        </p:txBody>
      </p:sp>
      <p:sp>
        <p:nvSpPr>
          <p:cNvPr id="34" name="Text 32"/>
          <p:cNvSpPr/>
          <p:nvPr/>
        </p:nvSpPr>
        <p:spPr>
          <a:xfrm>
            <a:off x="2029968" y="4572000"/>
            <a:ext cx="886968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VPN[2] 可称最高级页表索引或根页表索引，用来在 L2(root) 页表里选项；VPN[1] 选第二级页表项；VPN[0] 选最低级/叶子级页表项。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96112" y="5376672"/>
            <a:ext cx="100584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941832" y="5422392"/>
            <a:ext cx="987552" cy="694944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87552" y="5477256"/>
            <a:ext cx="896112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为什么重要</a:t>
            </a:r>
            <a:endParaRPr lang="en-US" sz="1170" dirty="0"/>
          </a:p>
        </p:txBody>
      </p:sp>
      <p:sp>
        <p:nvSpPr>
          <p:cNvPr id="38" name="Text 36"/>
          <p:cNvSpPr/>
          <p:nvPr/>
        </p:nvSpPr>
        <p:spPr>
          <a:xfrm>
            <a:off x="2029968" y="5449824"/>
            <a:ext cx="886968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后面的 vpn.indexes()、三级页表查找、以及“大页在更高层提前停下”这件事，全部依赖这三段索引。offset 不参与选页表，只负责落到页内具体字节。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41705" y="6181725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虚拟地址翻译时真正被逐级消耗的是 VPN[2]/VPN[1]/VPN[0]，而 offset 会一直原样保留到最后和物理页号拼接。</a:t>
            </a:r>
            <a:endParaRPr lang="en-US" sz="11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RV64 位下 Sv39 的 3 级页表寻址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4/54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207008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5D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VPN[2]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99232" y="1207008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5D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VPN[1]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39512" y="1207008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5D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VPN[0]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73568" y="932688"/>
            <a:ext cx="157276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物理地址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932688" y="1938528"/>
            <a:ext cx="10515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950976" y="2468880"/>
            <a:ext cx="1014984" cy="155448"/>
          </a:xfrm>
          <a:prstGeom prst="rect">
            <a:avLst/>
          </a:prstGeom>
          <a:solidFill>
            <a:srgbClr val="EAF1FB"/>
          </a:solidFill>
          <a:ln w="5080">
            <a:solidFill>
              <a:srgbClr val="EAF1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932688" y="2112264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32688" y="2286000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932688" y="2459736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932688" y="2633472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932688" y="2807208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932688" y="2980944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932688" y="3154680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97280" y="1984248"/>
            <a:ext cx="72237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......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54096" y="1481328"/>
            <a:ext cx="1051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054096" y="1618488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3054096" y="1755648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054096" y="1892808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054096" y="2029968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3054096" y="2167128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3054096" y="2304288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3054096" y="2441448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3218688" y="1485899"/>
            <a:ext cx="72237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......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054096" y="2743200"/>
            <a:ext cx="10515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3072384" y="3383280"/>
            <a:ext cx="1014984" cy="139446"/>
          </a:xfrm>
          <a:prstGeom prst="rect">
            <a:avLst/>
          </a:prstGeom>
          <a:solidFill>
            <a:srgbClr val="EAF1FB"/>
          </a:solidFill>
          <a:ln w="5080">
            <a:solidFill>
              <a:srgbClr val="EAF1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3054096" y="2900934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3054096" y="3058668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3054096" y="3216402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3054096" y="3374136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3054096" y="3531870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3054096" y="3689604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3054096" y="3847338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3218688" y="2759202"/>
            <a:ext cx="72237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......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54096" y="4178681"/>
            <a:ext cx="1051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3054096" y="4292981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3054096" y="4407281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3054096" y="4521581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3054096" y="4635881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3054096" y="4750181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3054096" y="4864481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3054096" y="4978781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3218688" y="4164965"/>
            <a:ext cx="72237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......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285232" y="1847088"/>
            <a:ext cx="10515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5285232" y="1970532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5285232" y="2093976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5285232" y="2217420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5285232" y="2340864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5285232" y="2464308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5285232" y="2587752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5285232" y="2711196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5449824" y="1840231"/>
            <a:ext cx="72237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......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285232" y="3547872"/>
            <a:ext cx="10515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5303520" y="4345686"/>
            <a:ext cx="1014984" cy="139446"/>
          </a:xfrm>
          <a:prstGeom prst="rect">
            <a:avLst/>
          </a:prstGeom>
          <a:solidFill>
            <a:srgbClr val="EAF1FB"/>
          </a:solidFill>
          <a:ln w="5080">
            <a:solidFill>
              <a:srgbClr val="EAF1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5285232" y="3705606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5285232" y="3863340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5285232" y="4021074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5285232" y="4178808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5285232" y="4336542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5285232" y="4494276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5285232" y="4652010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5449824" y="3536442"/>
            <a:ext cx="72237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......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193024" y="1188720"/>
            <a:ext cx="1051560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8"/>
          <p:cNvSpPr/>
          <p:nvPr/>
        </p:nvSpPr>
        <p:spPr>
          <a:xfrm>
            <a:off x="8211312" y="2368296"/>
            <a:ext cx="1014984" cy="566928"/>
          </a:xfrm>
          <a:prstGeom prst="rect">
            <a:avLst/>
          </a:prstGeom>
          <a:solidFill>
            <a:srgbClr val="EAF1FB"/>
          </a:solidFill>
          <a:ln w="5080">
            <a:solidFill>
              <a:srgbClr val="EAF1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hape 69"/>
          <p:cNvSpPr/>
          <p:nvPr/>
        </p:nvSpPr>
        <p:spPr>
          <a:xfrm>
            <a:off x="8211312" y="4123944"/>
            <a:ext cx="1014984" cy="566928"/>
          </a:xfrm>
          <a:prstGeom prst="rect">
            <a:avLst/>
          </a:prstGeom>
          <a:solidFill>
            <a:srgbClr val="EAF1FB"/>
          </a:solidFill>
          <a:ln w="5080">
            <a:solidFill>
              <a:srgbClr val="EAF1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Shape 70"/>
          <p:cNvSpPr/>
          <p:nvPr/>
        </p:nvSpPr>
        <p:spPr>
          <a:xfrm>
            <a:off x="8193024" y="1773936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Shape 71"/>
          <p:cNvSpPr/>
          <p:nvPr/>
        </p:nvSpPr>
        <p:spPr>
          <a:xfrm>
            <a:off x="8193024" y="2359152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Shape 72"/>
          <p:cNvSpPr/>
          <p:nvPr/>
        </p:nvSpPr>
        <p:spPr>
          <a:xfrm>
            <a:off x="8193024" y="2944368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Shape 73"/>
          <p:cNvSpPr/>
          <p:nvPr/>
        </p:nvSpPr>
        <p:spPr>
          <a:xfrm>
            <a:off x="8193024" y="3529584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Shape 74"/>
          <p:cNvSpPr/>
          <p:nvPr/>
        </p:nvSpPr>
        <p:spPr>
          <a:xfrm>
            <a:off x="8193024" y="4114800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Shape 75"/>
          <p:cNvSpPr/>
          <p:nvPr/>
        </p:nvSpPr>
        <p:spPr>
          <a:xfrm>
            <a:off x="8193024" y="4700016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Shape 76"/>
          <p:cNvSpPr/>
          <p:nvPr/>
        </p:nvSpPr>
        <p:spPr>
          <a:xfrm>
            <a:off x="8193024" y="5285232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Text 77"/>
          <p:cNvSpPr/>
          <p:nvPr/>
        </p:nvSpPr>
        <p:spPr>
          <a:xfrm>
            <a:off x="8357616" y="1234440"/>
            <a:ext cx="72237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......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3200400" y="2580895"/>
            <a:ext cx="64008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......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5468112" y="3063240"/>
            <a:ext cx="64008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......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164592" y="2532380"/>
            <a:ext cx="566928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satp</a:t>
            </a:r>
            <a:endParaRPr lang="en-US" sz="1220" dirty="0"/>
          </a:p>
        </p:txBody>
      </p:sp>
      <p:sp>
        <p:nvSpPr>
          <p:cNvPr id="83" name="Shape 81"/>
          <p:cNvSpPr/>
          <p:nvPr/>
        </p:nvSpPr>
        <p:spPr>
          <a:xfrm>
            <a:off x="658368" y="2596896"/>
            <a:ext cx="274320" cy="0"/>
          </a:xfrm>
          <a:prstGeom prst="line">
            <a:avLst/>
          </a:prstGeom>
          <a:noFill/>
          <a:ln w="16510">
            <a:solidFill>
              <a:srgbClr val="2F6DF2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Shape 83"/>
          <p:cNvSpPr/>
          <p:nvPr/>
        </p:nvSpPr>
        <p:spPr>
          <a:xfrm>
            <a:off x="1962785" y="2532380"/>
            <a:ext cx="1144270" cy="928370"/>
          </a:xfrm>
          <a:prstGeom prst="line">
            <a:avLst/>
          </a:prstGeom>
          <a:noFill/>
          <a:ln w="20320">
            <a:solidFill>
              <a:srgbClr val="2F6DF2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Shape 86"/>
          <p:cNvSpPr/>
          <p:nvPr/>
        </p:nvSpPr>
        <p:spPr>
          <a:xfrm>
            <a:off x="4087368" y="3461002"/>
            <a:ext cx="1197864" cy="987553"/>
          </a:xfrm>
          <a:prstGeom prst="line">
            <a:avLst/>
          </a:prstGeom>
          <a:noFill/>
          <a:ln w="20320">
            <a:solidFill>
              <a:srgbClr val="2F6DF2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Shape 87"/>
          <p:cNvSpPr/>
          <p:nvPr/>
        </p:nvSpPr>
        <p:spPr>
          <a:xfrm flipV="1">
            <a:off x="6336792" y="2679192"/>
            <a:ext cx="1874520" cy="1714500"/>
          </a:xfrm>
          <a:prstGeom prst="line">
            <a:avLst/>
          </a:prstGeom>
          <a:noFill/>
          <a:ln w="20320">
            <a:solidFill>
              <a:srgbClr val="2F6DF2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Shape 89"/>
          <p:cNvSpPr/>
          <p:nvPr/>
        </p:nvSpPr>
        <p:spPr>
          <a:xfrm>
            <a:off x="822960" y="6093460"/>
            <a:ext cx="9948545" cy="7645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Text 90"/>
          <p:cNvSpPr/>
          <p:nvPr/>
        </p:nvSpPr>
        <p:spPr>
          <a:xfrm>
            <a:off x="914273" y="6117082"/>
            <a:ext cx="972921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2F5D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详细过程</a:t>
            </a:r>
            <a:endParaRPr lang="en-US" sz="1240" dirty="0"/>
          </a:p>
        </p:txBody>
      </p:sp>
      <p:sp>
        <p:nvSpPr>
          <p:cNvPr id="93" name="Text 91"/>
          <p:cNvSpPr/>
          <p:nvPr/>
        </p:nvSpPr>
        <p:spPr>
          <a:xfrm>
            <a:off x="932561" y="6281674"/>
            <a:ext cx="96926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15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先对输入虚拟地址做 Sv39 规范地址检查，然后把它拆成 VPN[2]、VPN[1]、VPN[0] 和 offset。这里前三段是三级页表索引，offset 是页内偏移。</a:t>
            </a:r>
            <a:endParaRPr lang="en-US" sz="1015" dirty="0"/>
          </a:p>
          <a:p>
            <a:pPr marL="0" indent="0">
              <a:buNone/>
            </a:pPr>
            <a:r>
              <a:rPr lang="en-US" sz="1015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satp 给出根页表的物理页号。CPU 用 VPN[2] 在根页表里选出一个页表项；这个页表项本身通常不是最终映射，而是给出某张 L1 页表页的物理页号。</a:t>
            </a:r>
            <a:endParaRPr lang="en-US" sz="1015" dirty="0"/>
          </a:p>
          <a:p>
            <a:pPr marL="0" indent="0">
              <a:buNone/>
            </a:pPr>
            <a:r>
              <a:rPr lang="en-US" sz="1015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进入选中的 L1 页表页之后，CPU 再用 VPN[1] 找到下一个页表项。若该项仍然只是中间项，那么它会继续给出某张 L0 页表页的物理页号。</a:t>
            </a:r>
            <a:endParaRPr lang="en-US" sz="1015" dirty="0"/>
          </a:p>
          <a:p>
            <a:pPr marL="0" indent="0">
              <a:buNone/>
            </a:pPr>
            <a:r>
              <a:rPr lang="en-US" sz="1015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进入 L0 页表页后，CPU 用 VPN[0] 找到叶子 PTE。到这一层，页表项终于不再指向下一级页表，而是直接描述某个 4KB 物理页框。</a:t>
            </a:r>
            <a:endParaRPr lang="en-US" sz="1015" dirty="0"/>
          </a:p>
          <a:p>
            <a:pPr marL="0" indent="0">
              <a:buNone/>
            </a:pPr>
            <a:r>
              <a:rPr lang="en-US" sz="1015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 最后把叶子 PTE 中的物理页号与原先完整保留的 12 位 offset </a:t>
            </a:r>
            <a:r>
              <a:rPr lang="en-US" sz="1015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拼起来，得到最终物理地址</a:t>
            </a:r>
            <a:r>
              <a:rPr lang="en-US" sz="1015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015" dirty="0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9290538" y="1234186"/>
            <a:ext cx="0" cy="4636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16915" y="5184140"/>
            <a:ext cx="72631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假设我们使用</a:t>
            </a:r>
            <a:r>
              <a:rPr lang="en-US" altLang="zh-CN" dirty="0"/>
              <a:t>3</a:t>
            </a:r>
            <a:r>
              <a:rPr lang="zh-CN" altLang="en-US" dirty="0"/>
              <a:t>级索引来寻址一个</a:t>
            </a:r>
            <a:r>
              <a:rPr lang="en-US" altLang="zh-CN" dirty="0" err="1"/>
              <a:t>vpn</a:t>
            </a:r>
            <a:r>
              <a:rPr lang="en-US" altLang="zh-CN" dirty="0"/>
              <a:t>[2]=4,vpn[1]=3,vpn[0]=2,offset=0</a:t>
            </a:r>
            <a:r>
              <a:rPr lang="zh-CN" altLang="en-US" dirty="0"/>
              <a:t>的一个虚拟地址。</a:t>
            </a:r>
            <a:r>
              <a:rPr lang="en-US" altLang="zh-CN" dirty="0"/>
              <a:t>  </a:t>
            </a:r>
            <a:r>
              <a:rPr lang="zh-CN" altLang="en-US" dirty="0"/>
              <a:t>并且假设第三级页表的目标页表项的</a:t>
            </a:r>
            <a:r>
              <a:rPr lang="en-US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PhysPageNum</a:t>
            </a:r>
            <a:r>
              <a:rPr lang="en-US" altLang="zh-CN" dirty="0"/>
              <a:t>=5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三级页表的内存占用与大页动机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59536" y="1417320"/>
            <a:ext cx="2560320" cy="804672"/>
          </a:xfrm>
          <a:prstGeom prst="rect">
            <a:avLst/>
          </a:prstGeom>
          <a:solidFill>
            <a:srgbClr val="FBFAF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14400" y="1527048"/>
            <a:ext cx="2450592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Sv39 虚页数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755648"/>
            <a:ext cx="245059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2^(39-12) = 2^27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3675888" y="1409817"/>
            <a:ext cx="2011680" cy="804672"/>
          </a:xfrm>
          <a:prstGeom prst="rect">
            <a:avLst/>
          </a:prstGeom>
          <a:solidFill>
            <a:srgbClr val="FBFAF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730752" y="1527048"/>
            <a:ext cx="1901952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每项大小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30752" y="1755648"/>
            <a:ext cx="190195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个 PTE = 8 B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5943600" y="1417320"/>
            <a:ext cx="2560320" cy="804672"/>
          </a:xfrm>
          <a:prstGeom prst="rect">
            <a:avLst/>
          </a:prstGeom>
          <a:solidFill>
            <a:srgbClr val="FBFAF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998464" y="1527048"/>
            <a:ext cx="2450592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线性页表极端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98464" y="1755648"/>
            <a:ext cx="245059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2^27 * 8 B = 1 GiB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859536" y="2560320"/>
            <a:ext cx="4864608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87552" y="2724912"/>
            <a:ext cx="459028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2F5D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只映射 1 GiB 连续空间：4KB 普通页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987552" y="3026664"/>
            <a:ext cx="4645152" cy="15727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262,144 个 4KB </a:t>
            </a:r>
            <a:r>
              <a:rPr lang="en-US" sz="126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数据页</a:t>
            </a:r>
            <a:endParaRPr lang="en-US" sz="1260" dirty="0">
              <a:solidFill>
                <a:srgbClr val="1F2A3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r>
              <a:rPr lang="en-US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(1Gib/4k)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512 张 L0 </a:t>
            </a:r>
            <a:r>
              <a:rPr lang="en-US" sz="126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页表页</a:t>
            </a:r>
            <a:endParaRPr lang="en-US" sz="1260" dirty="0">
              <a:solidFill>
                <a:srgbClr val="1F2A3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r>
              <a:rPr lang="en-US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</a:t>
            </a:r>
            <a:r>
              <a:rPr lang="zh-CN" altLang="en-US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</a:t>
            </a:r>
            <a:r>
              <a:rPr lang="en-US" altLang="zh-CN" sz="126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pte</a:t>
            </a:r>
            <a:r>
              <a:rPr lang="en-US" altLang="zh-CN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8b,</a:t>
            </a:r>
            <a:r>
              <a:rPr lang="zh-CN" altLang="en-US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一个页</a:t>
            </a:r>
            <a:r>
              <a:rPr lang="en-US" altLang="zh-CN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4k</a:t>
            </a:r>
            <a:r>
              <a:rPr lang="zh-CN" altLang="en-US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，最多存</a:t>
            </a:r>
            <a:r>
              <a:rPr lang="en-US" altLang="zh-CN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512</a:t>
            </a:r>
            <a:r>
              <a:rPr lang="zh-CN" altLang="en-US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</a:t>
            </a:r>
            <a:r>
              <a:rPr lang="en-US" altLang="zh-CN" sz="126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pte</a:t>
            </a:r>
            <a:r>
              <a:rPr lang="zh-CN" altLang="en-US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，一个</a:t>
            </a:r>
            <a:r>
              <a:rPr lang="en-US" altLang="zh-CN" sz="126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pte</a:t>
            </a:r>
            <a:r>
              <a:rPr lang="zh-CN" altLang="en-US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指向一页</a:t>
            </a:r>
            <a:r>
              <a:rPr lang="en-US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)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L0 页表内存 = 2 MiB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再加 1 张 L1 和 1 张 L2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总页表内存 = 2 MiB + 8 KiB</a:t>
            </a:r>
            <a:endParaRPr lang="en-US" sz="1260" dirty="0"/>
          </a:p>
        </p:txBody>
      </p:sp>
      <p:sp>
        <p:nvSpPr>
          <p:cNvPr id="20" name="Shape 18"/>
          <p:cNvSpPr/>
          <p:nvPr/>
        </p:nvSpPr>
        <p:spPr>
          <a:xfrm>
            <a:off x="6016752" y="2560320"/>
            <a:ext cx="4828032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144768" y="272491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A968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只映射 1 GiB 连续空间：2MB 大页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6254496" y="3090672"/>
            <a:ext cx="4352544" cy="12252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512 个 L1 </a:t>
            </a:r>
            <a:r>
              <a:rPr lang="en-US" sz="126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叶子</a:t>
            </a:r>
            <a:r>
              <a:rPr lang="en-US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PTE</a:t>
            </a:r>
          </a:p>
          <a:p>
            <a:pPr marL="0" indent="0" algn="ctr">
              <a:buNone/>
            </a:pPr>
            <a:r>
              <a:rPr lang="en-US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</a:t>
            </a:r>
            <a:r>
              <a:rPr lang="zh-CN" altLang="en-US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</a:t>
            </a:r>
            <a:r>
              <a:rPr lang="en-US" altLang="zh-CN" sz="126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pte</a:t>
            </a:r>
            <a:r>
              <a:rPr lang="zh-CN" altLang="en-US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指向一个</a:t>
            </a:r>
            <a:r>
              <a:rPr lang="en-US" altLang="zh-CN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2mb</a:t>
            </a:r>
            <a:r>
              <a:rPr lang="zh-CN" altLang="en-US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大页</a:t>
            </a:r>
            <a:r>
              <a:rPr lang="en-US" altLang="zh-CN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,1Gib/2mb=512</a:t>
            </a:r>
            <a:r>
              <a:rPr lang="en-US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)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恰好装进 1 张 L1 页表页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再加 1 张 L2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总页表内存 = 8 KiB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少掉了全部 L0 页表开销</a:t>
            </a:r>
            <a:endParaRPr lang="en-US" sz="1260" dirty="0"/>
          </a:p>
        </p:txBody>
      </p:sp>
      <p:sp>
        <p:nvSpPr>
          <p:cNvPr id="23" name="Shape 21"/>
          <p:cNvSpPr/>
          <p:nvPr/>
        </p:nvSpPr>
        <p:spPr>
          <a:xfrm>
            <a:off x="877824" y="4809744"/>
            <a:ext cx="99852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923544" y="4855464"/>
            <a:ext cx="859536" cy="219456"/>
          </a:xfrm>
          <a:prstGeom prst="rect">
            <a:avLst/>
          </a:prstGeom>
          <a:solidFill>
            <a:srgbClr val="536B45"/>
          </a:solidFill>
          <a:ln w="10160">
            <a:solidFill>
              <a:srgbClr val="536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69264" y="4910328"/>
            <a:ext cx="76809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7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优点</a:t>
            </a: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170" dirty="0"/>
          </a:p>
        </p:txBody>
      </p:sp>
      <p:sp>
        <p:nvSpPr>
          <p:cNvPr id="26" name="Text 24"/>
          <p:cNvSpPr/>
          <p:nvPr/>
        </p:nvSpPr>
        <p:spPr>
          <a:xfrm>
            <a:off x="1883664" y="4882896"/>
            <a:ext cx="892454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大页能显著减少页表本身的内存占用；同样映射 1 GiB，4KB 页要 2 MiB + 8 KiB 页表，而 2MB 大页只要 8 KiB。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77824" y="5175504"/>
            <a:ext cx="99852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923544" y="5221224"/>
            <a:ext cx="859536" cy="219456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969264" y="5276088"/>
            <a:ext cx="76809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7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优点</a:t>
            </a: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170" dirty="0"/>
          </a:p>
        </p:txBody>
      </p:sp>
      <p:sp>
        <p:nvSpPr>
          <p:cNvPr id="30" name="Text 28"/>
          <p:cNvSpPr/>
          <p:nvPr/>
        </p:nvSpPr>
        <p:spPr>
          <a:xfrm>
            <a:off x="1883664" y="5248656"/>
            <a:ext cx="892454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大页让 TLB 覆盖范围更大，页表 walk 次数也更少，所以常用于大块、连续、权限一致的映射区域。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77824" y="5541264"/>
            <a:ext cx="99852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923544" y="5586984"/>
            <a:ext cx="859536" cy="219456"/>
          </a:xfrm>
          <a:prstGeom prst="rect">
            <a:avLst/>
          </a:prstGeom>
          <a:solidFill>
            <a:srgbClr val="A96832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969264" y="5641848"/>
            <a:ext cx="76809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7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缺点</a:t>
            </a: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170" dirty="0"/>
          </a:p>
        </p:txBody>
      </p:sp>
      <p:sp>
        <p:nvSpPr>
          <p:cNvPr id="34" name="Text 32"/>
          <p:cNvSpPr/>
          <p:nvPr/>
        </p:nvSpPr>
        <p:spPr>
          <a:xfrm>
            <a:off x="1883664" y="5614416"/>
            <a:ext cx="892454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大页要求更严格的对齐条件；想在 L1 直接停下，就必须满足 2MB 边界对齐，否则根本不能这么映射。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77824" y="5907024"/>
            <a:ext cx="99852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923544" y="5952744"/>
            <a:ext cx="859536" cy="219456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7" name="Text 35"/>
          <p:cNvSpPr/>
          <p:nvPr/>
        </p:nvSpPr>
        <p:spPr>
          <a:xfrm>
            <a:off x="969264" y="6007608"/>
            <a:ext cx="76809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7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缺点</a:t>
            </a: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170" dirty="0"/>
          </a:p>
        </p:txBody>
      </p:sp>
      <p:sp>
        <p:nvSpPr>
          <p:cNvPr id="38" name="Text 36"/>
          <p:cNvSpPr/>
          <p:nvPr/>
        </p:nvSpPr>
        <p:spPr>
          <a:xfrm>
            <a:off x="1883664" y="5980176"/>
            <a:ext cx="892454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大页的内部碎片更大，权限粒度也更粗。你不能在同一个 2MB 大页里轻松给不同 4KB 子页配置不同权限。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32688" y="6272784"/>
            <a:ext cx="983894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大页的本质不是“换一种页大小”，而是允许在更高层级的 PTE 直接作为叶子停下。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4KB 与 2MB 大页混合映射的寻址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96112" y="1170432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5D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VPN[2]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9504" y="1170432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5D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VPN[1]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0" y="3511294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5D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VPN[0]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01000" y="932688"/>
            <a:ext cx="157276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物理地址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914400" y="1755648"/>
            <a:ext cx="1051560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932688" y="2650999"/>
            <a:ext cx="1014984" cy="160020"/>
          </a:xfrm>
          <a:prstGeom prst="rect">
            <a:avLst/>
          </a:prstGeom>
          <a:solidFill>
            <a:srgbClr val="EAF1FB"/>
          </a:solidFill>
          <a:ln w="5080">
            <a:solidFill>
              <a:srgbClr val="EAF1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1933956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2112264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914400" y="2290572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914400" y="2468880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914400" y="2647188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2825496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914400" y="3003804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78992" y="1801368"/>
            <a:ext cx="72237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......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89504" y="1719072"/>
            <a:ext cx="127101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A968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VA_A 命中的 L1 项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2999232" y="2011680"/>
            <a:ext cx="10515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3011424" y="2752345"/>
            <a:ext cx="1014984" cy="128016"/>
          </a:xfrm>
          <a:prstGeom prst="rect">
            <a:avLst/>
          </a:prstGeom>
          <a:solidFill>
            <a:srgbClr val="FBEAD9"/>
          </a:solidFill>
          <a:ln w="5080">
            <a:solidFill>
              <a:srgbClr val="FBEA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2999232" y="2157984"/>
            <a:ext cx="1051560" cy="0"/>
          </a:xfrm>
          <a:prstGeom prst="line">
            <a:avLst/>
          </a:prstGeom>
          <a:noFill/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2999232" y="2299716"/>
            <a:ext cx="1051560" cy="0"/>
          </a:xfrm>
          <a:prstGeom prst="line">
            <a:avLst/>
          </a:prstGeom>
          <a:noFill/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7" name="Shape 25"/>
          <p:cNvSpPr/>
          <p:nvPr/>
        </p:nvSpPr>
        <p:spPr>
          <a:xfrm>
            <a:off x="2999232" y="2450592"/>
            <a:ext cx="1051560" cy="0"/>
          </a:xfrm>
          <a:prstGeom prst="line">
            <a:avLst/>
          </a:prstGeom>
          <a:noFill/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2999232" y="2596896"/>
            <a:ext cx="1051560" cy="0"/>
          </a:xfrm>
          <a:prstGeom prst="line">
            <a:avLst/>
          </a:prstGeom>
          <a:noFill/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2999232" y="2743200"/>
            <a:ext cx="1051560" cy="0"/>
          </a:xfrm>
          <a:prstGeom prst="line">
            <a:avLst/>
          </a:prstGeom>
          <a:noFill/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2999232" y="2889504"/>
            <a:ext cx="1051560" cy="0"/>
          </a:xfrm>
          <a:prstGeom prst="line">
            <a:avLst/>
          </a:prstGeom>
          <a:noFill/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2999232" y="3035808"/>
            <a:ext cx="1051560" cy="0"/>
          </a:xfrm>
          <a:prstGeom prst="line">
            <a:avLst/>
          </a:prstGeom>
          <a:noFill/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3157728" y="2027682"/>
            <a:ext cx="72237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......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889504" y="3502152"/>
            <a:ext cx="127101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2F5D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VA_B 命中的 L1 项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2999232" y="3794760"/>
            <a:ext cx="10515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3017520" y="4389120"/>
            <a:ext cx="1014984" cy="128016"/>
          </a:xfrm>
          <a:prstGeom prst="rect">
            <a:avLst/>
          </a:prstGeom>
          <a:solidFill>
            <a:srgbClr val="EAF1FB"/>
          </a:solidFill>
          <a:ln w="5080">
            <a:solidFill>
              <a:srgbClr val="EAF1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2999232" y="3941064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2999232" y="4087368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2999232" y="4233672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2999232" y="4379976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2999232" y="4526280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2999232" y="4672584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2999232" y="4818888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3163824" y="3840480"/>
            <a:ext cx="72237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......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75504" y="3310126"/>
            <a:ext cx="127101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2F5D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继续进入 L0</a:t>
            </a:r>
            <a:endParaRPr lang="en-US" sz="1060" dirty="0"/>
          </a:p>
        </p:txBody>
      </p:sp>
      <p:sp>
        <p:nvSpPr>
          <p:cNvPr id="45" name="Shape 43"/>
          <p:cNvSpPr/>
          <p:nvPr/>
        </p:nvSpPr>
        <p:spPr>
          <a:xfrm>
            <a:off x="5041392" y="3794760"/>
            <a:ext cx="10515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5056632" y="4671001"/>
            <a:ext cx="1014984" cy="128016"/>
          </a:xfrm>
          <a:prstGeom prst="rect">
            <a:avLst/>
          </a:prstGeom>
          <a:solidFill>
            <a:srgbClr val="EAF1FB"/>
          </a:solidFill>
          <a:ln w="5080">
            <a:solidFill>
              <a:srgbClr val="EAF1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5041392" y="3941064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5041392" y="4087368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5041392" y="4233672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5041392" y="4373409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5041392" y="4526280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2" name="Shape 50"/>
          <p:cNvSpPr/>
          <p:nvPr/>
        </p:nvSpPr>
        <p:spPr>
          <a:xfrm>
            <a:off x="5041392" y="4672584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5041392" y="4818888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5205984" y="3788430"/>
            <a:ext cx="72237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......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183880" y="1152144"/>
            <a:ext cx="10515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8202168" y="1755648"/>
            <a:ext cx="1014984" cy="576072"/>
          </a:xfrm>
          <a:prstGeom prst="rect">
            <a:avLst/>
          </a:prstGeom>
          <a:solidFill>
            <a:srgbClr val="EAF1FB"/>
          </a:solidFill>
          <a:ln w="5080">
            <a:solidFill>
              <a:srgbClr val="EAF1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8202168" y="4133088"/>
            <a:ext cx="1014984" cy="576072"/>
          </a:xfrm>
          <a:prstGeom prst="rect">
            <a:avLst/>
          </a:prstGeom>
          <a:solidFill>
            <a:srgbClr val="EAF1FB"/>
          </a:solidFill>
          <a:ln w="5080">
            <a:solidFill>
              <a:srgbClr val="EAF1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8183880" y="1746504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8183880" y="2340864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8183880" y="2935224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8183880" y="3529584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8183880" y="4123944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8183880" y="4718304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8183880" y="5312664"/>
            <a:ext cx="1051560" cy="0"/>
          </a:xfrm>
          <a:prstGeom prst="line">
            <a:avLst/>
          </a:prstGeom>
          <a:noFill/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8348472" y="1348386"/>
            <a:ext cx="72237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......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498848" y="1349793"/>
            <a:ext cx="2651760" cy="6766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A968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VA_A = 0x0000_0000_8045_6789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A968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VPN[2]=2, VPN[1]=2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A968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offset21 = 0x56789</a:t>
            </a:r>
            <a:endParaRPr lang="en-US" sz="980" dirty="0"/>
          </a:p>
        </p:txBody>
      </p:sp>
      <p:sp>
        <p:nvSpPr>
          <p:cNvPr id="67" name="Text 65"/>
          <p:cNvSpPr/>
          <p:nvPr/>
        </p:nvSpPr>
        <p:spPr>
          <a:xfrm>
            <a:off x="6031992" y="4650126"/>
            <a:ext cx="2304289" cy="6766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970" dirty="0">
                <a:solidFill>
                  <a:srgbClr val="2F5D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VA_B = 0x0000_0000_8060_1567</a:t>
            </a:r>
          </a:p>
          <a:p>
            <a:pPr algn="ctr"/>
            <a:r>
              <a:rPr lang="en-US" sz="970" dirty="0">
                <a:solidFill>
                  <a:srgbClr val="2F5D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VPN[2]=2, VPN[1]=3, VPN[0]=1</a:t>
            </a:r>
            <a:endParaRPr lang="en-US" sz="970" dirty="0"/>
          </a:p>
          <a:p>
            <a:pPr marL="0" indent="0" algn="ctr">
              <a:buNone/>
            </a:pPr>
            <a:r>
              <a:rPr lang="en-US" sz="970" dirty="0">
                <a:solidFill>
                  <a:srgbClr val="2F5D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offset12 = 0x567</a:t>
            </a:r>
            <a:endParaRPr lang="en-US" sz="970" dirty="0"/>
          </a:p>
        </p:txBody>
      </p:sp>
      <p:sp>
        <p:nvSpPr>
          <p:cNvPr id="68" name="Text 66"/>
          <p:cNvSpPr/>
          <p:nvPr/>
        </p:nvSpPr>
        <p:spPr>
          <a:xfrm>
            <a:off x="4182911" y="2644903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A968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 L1 停下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A968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2MB 大页叶子</a:t>
            </a:r>
            <a:endParaRPr lang="en-US" sz="1020" dirty="0"/>
          </a:p>
        </p:txBody>
      </p:sp>
      <p:sp>
        <p:nvSpPr>
          <p:cNvPr id="69" name="Text 67"/>
          <p:cNvSpPr/>
          <p:nvPr/>
        </p:nvSpPr>
        <p:spPr>
          <a:xfrm>
            <a:off x="6117336" y="3310128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2F5D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继续走到 L0</a:t>
            </a:r>
            <a:endParaRPr lang="en-US" sz="1010" dirty="0"/>
          </a:p>
          <a:p>
            <a:pPr marL="0" indent="0" algn="ctr">
              <a:buNone/>
            </a:pPr>
            <a:r>
              <a:rPr lang="en-US" sz="1010" b="1" dirty="0">
                <a:solidFill>
                  <a:srgbClr val="2F5D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4KB 普通页</a:t>
            </a:r>
            <a:endParaRPr lang="en-US" sz="1010" dirty="0"/>
          </a:p>
        </p:txBody>
      </p:sp>
      <p:sp>
        <p:nvSpPr>
          <p:cNvPr id="70" name="Text 68"/>
          <p:cNvSpPr/>
          <p:nvPr/>
        </p:nvSpPr>
        <p:spPr>
          <a:xfrm>
            <a:off x="146304" y="2661959"/>
            <a:ext cx="566928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satp</a:t>
            </a:r>
            <a:endParaRPr lang="en-US" sz="1220" dirty="0"/>
          </a:p>
        </p:txBody>
      </p:sp>
      <p:sp>
        <p:nvSpPr>
          <p:cNvPr id="71" name="Shape 69"/>
          <p:cNvSpPr/>
          <p:nvPr/>
        </p:nvSpPr>
        <p:spPr>
          <a:xfrm>
            <a:off x="658368" y="2718113"/>
            <a:ext cx="256032" cy="0"/>
          </a:xfrm>
          <a:prstGeom prst="line">
            <a:avLst/>
          </a:prstGeom>
          <a:noFill/>
          <a:ln w="16510">
            <a:solidFill>
              <a:srgbClr val="2F6DF2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Shape 70"/>
          <p:cNvSpPr/>
          <p:nvPr/>
        </p:nvSpPr>
        <p:spPr>
          <a:xfrm>
            <a:off x="1947672" y="2734053"/>
            <a:ext cx="1051560" cy="54867"/>
          </a:xfrm>
          <a:prstGeom prst="line">
            <a:avLst/>
          </a:prstGeom>
          <a:noFill/>
          <a:ln w="20320">
            <a:solidFill>
              <a:srgbClr val="A96832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Shape 71"/>
          <p:cNvSpPr/>
          <p:nvPr/>
        </p:nvSpPr>
        <p:spPr>
          <a:xfrm>
            <a:off x="1959864" y="2724910"/>
            <a:ext cx="1027176" cy="1737363"/>
          </a:xfrm>
          <a:prstGeom prst="line">
            <a:avLst/>
          </a:prstGeom>
          <a:noFill/>
          <a:ln w="20320">
            <a:solidFill>
              <a:srgbClr val="2F6DF2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Shape 72"/>
          <p:cNvSpPr/>
          <p:nvPr/>
        </p:nvSpPr>
        <p:spPr>
          <a:xfrm flipV="1">
            <a:off x="4038600" y="1314157"/>
            <a:ext cx="4163568" cy="1483907"/>
          </a:xfrm>
          <a:prstGeom prst="line">
            <a:avLst/>
          </a:prstGeom>
          <a:noFill/>
          <a:ln w="20320">
            <a:solidFill>
              <a:srgbClr val="A96832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Shape 73"/>
          <p:cNvSpPr/>
          <p:nvPr/>
        </p:nvSpPr>
        <p:spPr>
          <a:xfrm>
            <a:off x="4050792" y="4352543"/>
            <a:ext cx="990600" cy="390905"/>
          </a:xfrm>
          <a:prstGeom prst="line">
            <a:avLst/>
          </a:prstGeom>
          <a:noFill/>
          <a:ln w="20320">
            <a:solidFill>
              <a:srgbClr val="2F6DF2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Shape 74"/>
          <p:cNvSpPr/>
          <p:nvPr/>
        </p:nvSpPr>
        <p:spPr>
          <a:xfrm>
            <a:off x="6071616" y="4466842"/>
            <a:ext cx="2112264" cy="86870"/>
          </a:xfrm>
          <a:prstGeom prst="line">
            <a:avLst/>
          </a:prstGeom>
          <a:noFill/>
          <a:ln w="20320">
            <a:solidFill>
              <a:srgbClr val="2F6DF2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Shape 76"/>
          <p:cNvSpPr/>
          <p:nvPr/>
        </p:nvSpPr>
        <p:spPr>
          <a:xfrm>
            <a:off x="822959" y="5321807"/>
            <a:ext cx="11128718" cy="1490465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9" name="Text 77"/>
          <p:cNvSpPr/>
          <p:nvPr/>
        </p:nvSpPr>
        <p:spPr>
          <a:xfrm>
            <a:off x="932688" y="5413248"/>
            <a:ext cx="972921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A968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详细过程</a:t>
            </a:r>
            <a:endParaRPr lang="en-US" sz="1240" dirty="0"/>
          </a:p>
        </p:txBody>
      </p:sp>
      <p:sp>
        <p:nvSpPr>
          <p:cNvPr id="80" name="Text 78"/>
          <p:cNvSpPr/>
          <p:nvPr/>
        </p:nvSpPr>
        <p:spPr>
          <a:xfrm>
            <a:off x="950976" y="5669280"/>
            <a:ext cx="969264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995" dirty="0"/>
          </a:p>
        </p:txBody>
      </p:sp>
      <p:cxnSp>
        <p:nvCxnSpPr>
          <p:cNvPr id="82" name="直接箭头连接符 81"/>
          <p:cNvCxnSpPr/>
          <p:nvPr/>
        </p:nvCxnSpPr>
        <p:spPr>
          <a:xfrm flipV="1">
            <a:off x="9302262" y="1152144"/>
            <a:ext cx="0" cy="4160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本框 82"/>
          <p:cNvSpPr txBox="1"/>
          <p:nvPr/>
        </p:nvSpPr>
        <p:spPr>
          <a:xfrm>
            <a:off x="896112" y="5669280"/>
            <a:ext cx="1101852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</a:t>
            </a:r>
            <a:r>
              <a:rPr lang="en-US" altLang="zh-CN" sz="9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两个地址都会先经历同样的起点：satp</a:t>
            </a:r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altLang="zh-CN" sz="9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给出根页表位置，CPU</a:t>
            </a:r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altLang="zh-CN" sz="9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先用</a:t>
            </a:r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VPN[2] </a:t>
            </a:r>
            <a:r>
              <a:rPr lang="en-US" altLang="zh-CN" sz="9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在根页表中找到对应分支。也就是说，是否是大页，并不会改变“必须先经过根页表”这件事</a:t>
            </a:r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altLang="zh-CN" sz="900" dirty="0"/>
          </a:p>
          <a:p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</a:t>
            </a:r>
            <a:r>
              <a:rPr lang="en-US" altLang="zh-CN" sz="9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对于</a:t>
            </a:r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VA_A = 0x0000_0000_8045_6789，走到 L1 </a:t>
            </a:r>
            <a:r>
              <a:rPr lang="en-US" altLang="zh-CN" sz="9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后就命中一个</a:t>
            </a:r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2MB </a:t>
            </a:r>
            <a:r>
              <a:rPr lang="en-US" altLang="zh-CN" sz="9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大页叶子</a:t>
            </a:r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altLang="zh-CN" sz="9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PTE。此时这个</a:t>
            </a:r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L1 </a:t>
            </a:r>
            <a:r>
              <a:rPr lang="en-US" altLang="zh-CN" sz="9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项已经直接携带映射权限和目标物理页号，所以页表</a:t>
            </a:r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walk 在 L1 </a:t>
            </a:r>
            <a:r>
              <a:rPr lang="en-US" altLang="zh-CN" sz="9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停下，不再继续读取</a:t>
            </a:r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VPN[0]。</a:t>
            </a:r>
            <a:endParaRPr lang="en-US" altLang="zh-CN" sz="900" dirty="0"/>
          </a:p>
          <a:p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</a:t>
            </a:r>
            <a:r>
              <a:rPr lang="en-US" altLang="zh-CN" sz="9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因为</a:t>
            </a:r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L1 </a:t>
            </a:r>
            <a:r>
              <a:rPr lang="en-US" altLang="zh-CN" sz="9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就停下了，所以</a:t>
            </a:r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VA_A </a:t>
            </a:r>
            <a:r>
              <a:rPr lang="en-US" altLang="zh-CN" sz="9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最终拼接物理地址时，使用的是更大的页内偏移，也就是</a:t>
            </a:r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21-bit offset21 = 0x56789。可以把这理解成：整整 2MB </a:t>
            </a:r>
            <a:r>
              <a:rPr lang="en-US" altLang="zh-CN" sz="9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的那一大块区域，都由这一个</a:t>
            </a:r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L1 </a:t>
            </a:r>
            <a:r>
              <a:rPr lang="en-US" altLang="zh-CN" sz="9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叶子项负责描述</a:t>
            </a:r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altLang="zh-CN" sz="900" dirty="0"/>
          </a:p>
          <a:p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</a:t>
            </a:r>
            <a:r>
              <a:rPr lang="en-US" altLang="zh-CN" sz="9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对于</a:t>
            </a:r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VA_B = 0x0000_0000_8060_1567，虽然同样先经过根页表和 L1，但它命中的 L1 </a:t>
            </a:r>
            <a:r>
              <a:rPr lang="en-US" altLang="zh-CN" sz="9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项不是叶子，而只是“继续指向下一张</a:t>
            </a:r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L0 </a:t>
            </a:r>
            <a:r>
              <a:rPr lang="en-US" altLang="zh-CN" sz="9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页表页”的中间项，所以</a:t>
            </a:r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CPU </a:t>
            </a:r>
            <a:r>
              <a:rPr lang="en-US" altLang="zh-CN" sz="9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还必须再使用</a:t>
            </a:r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VPN[0] </a:t>
            </a:r>
            <a:r>
              <a:rPr lang="en-US" altLang="zh-CN" sz="9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</a:t>
            </a:r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L0。</a:t>
            </a:r>
            <a:endParaRPr lang="en-US" altLang="zh-CN" sz="900" dirty="0"/>
          </a:p>
          <a:p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 </a:t>
            </a:r>
            <a:r>
              <a:rPr lang="en-US" altLang="zh-CN" sz="9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走到</a:t>
            </a:r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L0 </a:t>
            </a:r>
            <a:r>
              <a:rPr lang="en-US" altLang="zh-CN" sz="9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后，VA_B</a:t>
            </a:r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altLang="zh-CN" sz="9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才拿到真正的</a:t>
            </a:r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4KB </a:t>
            </a:r>
            <a:r>
              <a:rPr lang="en-US" altLang="zh-CN" sz="9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叶子</a:t>
            </a:r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altLang="zh-CN" sz="9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PTE，因此最终物理地址拼接时只保留</a:t>
            </a:r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12-bit offset12 = 0x567。混合映射的关键不是地址格式变了，而是：某一级 PTE </a:t>
            </a:r>
            <a:r>
              <a:rPr lang="en-US" altLang="zh-CN" sz="9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是否已经足够直接描述最终映射，从而允许页表</a:t>
            </a:r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walk </a:t>
            </a:r>
            <a:r>
              <a:rPr lang="en-US" altLang="zh-CN" sz="9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在该层提前停下</a:t>
            </a:r>
            <a:r>
              <a:rPr lang="en-US" altLang="zh-CN" sz="9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altLang="zh-CN" sz="900" dirty="0"/>
          </a:p>
          <a:p>
            <a:endParaRPr lang="zh-CN" alt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应用地址空间总览图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8/54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0" y="1243585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高地址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598932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低地址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1325880"/>
            <a:ext cx="2468880" cy="4846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914400" y="1325880"/>
            <a:ext cx="2468880" cy="387706"/>
          </a:xfrm>
          <a:prstGeom prst="rect">
            <a:avLst/>
          </a:prstGeom>
          <a:solidFill>
            <a:srgbClr val="F7D7D5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87552" y="1371600"/>
            <a:ext cx="2322576" cy="29626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C445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Trampoline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3383280" y="1519733"/>
            <a:ext cx="292608" cy="0"/>
          </a:xfrm>
          <a:prstGeom prst="line">
            <a:avLst/>
          </a:prstGeom>
          <a:noFill/>
          <a:ln w="10160">
            <a:solidFill>
              <a:srgbClr val="59647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730752" y="1373429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顶页，所有地址空间同 VA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914400" y="1713586"/>
            <a:ext cx="2468880" cy="484632"/>
          </a:xfrm>
          <a:prstGeom prst="rect">
            <a:avLst/>
          </a:prstGeom>
          <a:solidFill>
            <a:srgbClr val="D8E7F6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87552" y="1759306"/>
            <a:ext cx="2322576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TrapContext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3383280" y="1955902"/>
            <a:ext cx="292608" cy="0"/>
          </a:xfrm>
          <a:prstGeom prst="line">
            <a:avLst/>
          </a:prstGeom>
          <a:noFill/>
          <a:ln w="10160">
            <a:solidFill>
              <a:srgbClr val="59647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730752" y="1809598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R/W，无 U 位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914400" y="2198218"/>
            <a:ext cx="2468880" cy="1841602"/>
          </a:xfrm>
          <a:prstGeom prst="rect">
            <a:avLst/>
          </a:prstGeom>
          <a:solidFill>
            <a:srgbClr val="FFFFFF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87552" y="2243938"/>
            <a:ext cx="2322576" cy="175016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中间大空洞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3383280" y="3119018"/>
            <a:ext cx="292608" cy="0"/>
          </a:xfrm>
          <a:prstGeom prst="line">
            <a:avLst/>
          </a:prstGeom>
          <a:noFill/>
          <a:ln w="10160">
            <a:solidFill>
              <a:srgbClr val="59647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730752" y="2972714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没映射就不占物理页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914400" y="4039819"/>
            <a:ext cx="2468880" cy="242316"/>
          </a:xfrm>
          <a:prstGeom prst="rect">
            <a:avLst/>
          </a:prstGeom>
          <a:solidFill>
            <a:srgbClr val="DCE9D8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987552" y="4085539"/>
            <a:ext cx="2322576" cy="1508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heap 起点</a:t>
            </a:r>
            <a:endParaRPr lang="en-US" sz="1140" dirty="0"/>
          </a:p>
        </p:txBody>
      </p:sp>
      <p:sp>
        <p:nvSpPr>
          <p:cNvPr id="25" name="Shape 23"/>
          <p:cNvSpPr/>
          <p:nvPr/>
        </p:nvSpPr>
        <p:spPr>
          <a:xfrm>
            <a:off x="3383280" y="4160977"/>
            <a:ext cx="292608" cy="0"/>
          </a:xfrm>
          <a:prstGeom prst="line">
            <a:avLst/>
          </a:prstGeom>
          <a:noFill/>
          <a:ln w="10160">
            <a:solidFill>
              <a:srgbClr val="59647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730752" y="4014673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start=end 的逻辑区间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914400" y="4282135"/>
            <a:ext cx="2468880" cy="581558"/>
          </a:xfrm>
          <a:prstGeom prst="rect">
            <a:avLst/>
          </a:prstGeom>
          <a:solidFill>
            <a:srgbClr val="D8E7F6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87552" y="4327855"/>
            <a:ext cx="2322576" cy="49011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user stack</a:t>
            </a: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3383280" y="4572914"/>
            <a:ext cx="292608" cy="0"/>
          </a:xfrm>
          <a:prstGeom prst="line">
            <a:avLst/>
          </a:prstGeom>
          <a:noFill/>
          <a:ln w="10160">
            <a:solidFill>
              <a:srgbClr val="59647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3730752" y="442661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R/W/U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914400" y="4863694"/>
            <a:ext cx="2468880" cy="242316"/>
          </a:xfrm>
          <a:prstGeom prst="rect">
            <a:avLst/>
          </a:prstGeom>
          <a:solidFill>
            <a:srgbClr val="FFFFFF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987552" y="4909414"/>
            <a:ext cx="2322576" cy="1508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C445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guard page</a:t>
            </a:r>
            <a:endParaRPr lang="en-US" sz="1140" dirty="0"/>
          </a:p>
        </p:txBody>
      </p:sp>
      <p:sp>
        <p:nvSpPr>
          <p:cNvPr id="33" name="Shape 31"/>
          <p:cNvSpPr/>
          <p:nvPr/>
        </p:nvSpPr>
        <p:spPr>
          <a:xfrm>
            <a:off x="3383280" y="4984852"/>
            <a:ext cx="292608" cy="0"/>
          </a:xfrm>
          <a:prstGeom prst="line">
            <a:avLst/>
          </a:prstGeom>
          <a:noFill/>
          <a:ln w="10160">
            <a:solidFill>
              <a:srgbClr val="59647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3730752" y="4838548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故意空出来抓栈越界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914400" y="5106010"/>
            <a:ext cx="2468880" cy="1066190"/>
          </a:xfrm>
          <a:prstGeom prst="rect">
            <a:avLst/>
          </a:prstGeom>
          <a:solidFill>
            <a:srgbClr val="DCE9D8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987552" y="5151730"/>
            <a:ext cx="2322576" cy="9747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ELF Load 段</a:t>
            </a:r>
            <a:endParaRPr lang="en-US" sz="1140" dirty="0"/>
          </a:p>
        </p:txBody>
      </p:sp>
      <p:sp>
        <p:nvSpPr>
          <p:cNvPr id="37" name="Shape 35"/>
          <p:cNvSpPr/>
          <p:nvPr/>
        </p:nvSpPr>
        <p:spPr>
          <a:xfrm>
            <a:off x="3383280" y="5639105"/>
            <a:ext cx="292608" cy="0"/>
          </a:xfrm>
          <a:prstGeom prst="line">
            <a:avLst/>
          </a:prstGeom>
          <a:noFill/>
          <a:ln w="10160">
            <a:solidFill>
              <a:srgbClr val="59647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3730752" y="5492801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 program header 装载</a:t>
            </a:r>
            <a:endParaRPr lang="en-US" sz="1060" dirty="0"/>
          </a:p>
        </p:txBody>
      </p:sp>
      <p:sp>
        <p:nvSpPr>
          <p:cNvPr id="39" name="Shape 37"/>
          <p:cNvSpPr/>
          <p:nvPr/>
        </p:nvSpPr>
        <p:spPr>
          <a:xfrm>
            <a:off x="5173394" y="2248053"/>
            <a:ext cx="6812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5219114" y="2293773"/>
            <a:ext cx="932688" cy="749808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5264834" y="2348637"/>
            <a:ext cx="841248" cy="6766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低地址</a:t>
            </a:r>
            <a:endParaRPr lang="en-US" sz="1170" dirty="0"/>
          </a:p>
        </p:txBody>
      </p:sp>
      <p:sp>
        <p:nvSpPr>
          <p:cNvPr id="42" name="Text 40"/>
          <p:cNvSpPr/>
          <p:nvPr/>
        </p:nvSpPr>
        <p:spPr>
          <a:xfrm>
            <a:off x="6252386" y="2321205"/>
            <a:ext cx="5678424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应用真正执行的代码和静态数据都在低地址一侧，因为 ELF 的 Load 段被映射在那里。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173394" y="3180741"/>
            <a:ext cx="6812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5219114" y="3226461"/>
            <a:ext cx="932688" cy="749808"/>
          </a:xfrm>
          <a:prstGeom prst="rect">
            <a:avLst/>
          </a:prstGeom>
          <a:solidFill>
            <a:srgbClr val="536B45"/>
          </a:solidFill>
          <a:ln w="10160">
            <a:solidFill>
              <a:srgbClr val="536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5264834" y="3281325"/>
            <a:ext cx="841248" cy="6766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中间</a:t>
            </a:r>
            <a:endParaRPr lang="en-US" sz="1170" dirty="0"/>
          </a:p>
        </p:txBody>
      </p:sp>
      <p:sp>
        <p:nvSpPr>
          <p:cNvPr id="46" name="Text 44"/>
          <p:cNvSpPr/>
          <p:nvPr/>
        </p:nvSpPr>
        <p:spPr>
          <a:xfrm>
            <a:off x="6252386" y="3253893"/>
            <a:ext cx="5678424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中间这大片并不是“特殊用途区域”，而是当前没有建映射的虚拟地址。正因为没有映射，所以也不会消耗物理页。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173394" y="4113429"/>
            <a:ext cx="6812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5219114" y="4159149"/>
            <a:ext cx="932688" cy="749808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5264834" y="4214013"/>
            <a:ext cx="841248" cy="6766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高地址</a:t>
            </a:r>
            <a:endParaRPr lang="en-US" sz="1170" dirty="0"/>
          </a:p>
        </p:txBody>
      </p:sp>
      <p:sp>
        <p:nvSpPr>
          <p:cNvPr id="50" name="Text 48"/>
          <p:cNvSpPr/>
          <p:nvPr/>
        </p:nvSpPr>
        <p:spPr>
          <a:xfrm>
            <a:off x="6252386" y="4186581"/>
            <a:ext cx="5678424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最顶端两页留给 trap 相关元数据：一页是 trampoline，一页是 TrapContext。这样普通程序布局就不会和 trap 机制绞在一起。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应用地址空间逐块解释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371600"/>
            <a:ext cx="102412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68680" y="1417320"/>
            <a:ext cx="1024128" cy="694944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14400" y="1472184"/>
            <a:ext cx="932688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ELF 段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1993392" y="1444752"/>
            <a:ext cx="9015984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来自 ELF 的 Load program header。它们决定程序正文、只读常量、已初始化数据和 bss 在虚拟地址空间里的位置。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249424"/>
            <a:ext cx="102412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68680" y="2295144"/>
            <a:ext cx="1024128" cy="694944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14400" y="2350008"/>
            <a:ext cx="932688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guard page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1993392" y="2322576"/>
            <a:ext cx="9015984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故意不映射，目的不是省一页，而是让用户栈一旦越界就立刻 page fault，错误会尽早暴露。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127248"/>
            <a:ext cx="102412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68680" y="3172968"/>
            <a:ext cx="1024128" cy="694944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14400" y="3227832"/>
            <a:ext cx="932688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user stack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1993392" y="3200400"/>
            <a:ext cx="9015984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真正的用户态栈。用户函数调用、局部变量和返回地址都压在这里，所以必须带 U 权限。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005072"/>
            <a:ext cx="102412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68680" y="4050792"/>
            <a:ext cx="1024128" cy="694944"/>
          </a:xfrm>
          <a:prstGeom prst="rect">
            <a:avLst/>
          </a:prstGeom>
          <a:solidFill>
            <a:srgbClr val="536B45"/>
          </a:solidFill>
          <a:ln w="10160">
            <a:solidFill>
              <a:srgbClr val="536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14400" y="4105656"/>
            <a:ext cx="932688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heap 起点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1993392" y="4078224"/>
            <a:ext cx="9015984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这里一开始只是一个逻辑上的 program break </a:t>
            </a:r>
            <a:r>
              <a:rPr lang="en-US" sz="12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起点；真正需要更多堆时，再往上扩</a:t>
            </a: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4882896"/>
            <a:ext cx="102412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68680" y="4928616"/>
            <a:ext cx="1024128" cy="694944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14400" y="4983480"/>
            <a:ext cx="932688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TrapContext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1993392" y="4956048"/>
            <a:ext cx="9015984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虽然位于用户地址空间中，但没有 U 位；这让内核能用固定 VA 找到它，同时用户态又不能直接篡改。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" y="5760720"/>
            <a:ext cx="102412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68680" y="5806440"/>
            <a:ext cx="1024128" cy="694944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914400" y="5861304"/>
            <a:ext cx="932688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Trampoline</a:t>
            </a:r>
            <a:endParaRPr lang="en-US" sz="1170" dirty="0"/>
          </a:p>
        </p:txBody>
      </p:sp>
      <p:sp>
        <p:nvSpPr>
          <p:cNvPr id="31" name="Text 29"/>
          <p:cNvSpPr/>
          <p:nvPr/>
        </p:nvSpPr>
        <p:spPr>
          <a:xfrm>
            <a:off x="1993392" y="5833872"/>
            <a:ext cx="9015984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顶页上是一小段汇编代码。切 satp 之前和之后，PC 都能继续落在这页上，所以切表流程不会断。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ELF 文件 vs 二进制裸镜像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572768"/>
            <a:ext cx="101041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86968" y="1618488"/>
            <a:ext cx="914400" cy="841248"/>
          </a:xfrm>
          <a:prstGeom prst="rect">
            <a:avLst/>
          </a:prstGeom>
          <a:solidFill>
            <a:srgbClr val="FBFAF5"/>
          </a:solidFill>
          <a:ln w="10160">
            <a:solidFill>
              <a:srgbClr val="FBFA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32688" y="1673352"/>
            <a:ext cx="822960" cy="7680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裸</a:t>
            </a:r>
            <a:r>
              <a:rPr lang="zh-CN" altLang="en-US" sz="117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二进制文件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1901952" y="1645920"/>
            <a:ext cx="8988552" cy="8046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只有连续字节，没有“入口地址、装载地址、权限、段边界”的自描述信息。内核若想装载，必须额外约定这些信息。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" y="2596896"/>
            <a:ext cx="101041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86968" y="2642616"/>
            <a:ext cx="914400" cy="841248"/>
          </a:xfrm>
          <a:prstGeom prst="rect">
            <a:avLst/>
          </a:prstGeom>
          <a:solidFill>
            <a:srgbClr val="D8E7F6"/>
          </a:solidFill>
          <a:ln w="10160">
            <a:solidFill>
              <a:srgbClr val="D8E7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32688" y="2697480"/>
            <a:ext cx="822960" cy="7680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ELF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1901952" y="2670048"/>
            <a:ext cx="8988552" cy="8046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除了字节内容，还包含 header、program header、section header 等元信息，告诉装载器该把哪些段放到哪里、赋什么权限。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" y="3621024"/>
            <a:ext cx="101041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86968" y="3666744"/>
            <a:ext cx="914400" cy="841248"/>
          </a:xfrm>
          <a:prstGeom prst="rect">
            <a:avLst/>
          </a:prstGeom>
          <a:solidFill>
            <a:srgbClr val="DCE9D8"/>
          </a:solidFill>
          <a:ln w="10160">
            <a:solidFill>
              <a:srgbClr val="DCE9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32688" y="3721608"/>
            <a:ext cx="822960" cy="7680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 rCore 中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1901952" y="3694176"/>
            <a:ext cx="8988552" cy="8046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`MemorySet::from_elf` 正是利用这些元信息，把一个“可执行文件格式”翻译成“进程地址空间布局”。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05840" y="4617720"/>
            <a:ext cx="4160520" cy="960120"/>
          </a:xfrm>
          <a:prstGeom prst="rect">
            <a:avLst/>
          </a:prstGeom>
          <a:solidFill>
            <a:srgbClr val="FBFAF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49215" y="4645152"/>
            <a:ext cx="4067908" cy="960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420" dirty="0"/>
              <a:t>内核无法将裸二进制文件中字节流的功能分开</a:t>
            </a:r>
            <a:endParaRPr lang="en-US" sz="1420" dirty="0"/>
          </a:p>
        </p:txBody>
      </p:sp>
      <p:sp>
        <p:nvSpPr>
          <p:cNvPr id="22" name="Shape 20"/>
          <p:cNvSpPr/>
          <p:nvPr/>
        </p:nvSpPr>
        <p:spPr>
          <a:xfrm>
            <a:off x="6446520" y="4617720"/>
            <a:ext cx="4160520" cy="960120"/>
          </a:xfrm>
          <a:prstGeom prst="rect">
            <a:avLst/>
          </a:prstGeom>
          <a:solidFill>
            <a:srgbClr val="D8E7F6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446520" y="4645152"/>
            <a:ext cx="4160520" cy="9326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ELF</a:t>
            </a:r>
            <a:r>
              <a:rPr lang="zh-CN" altLang="en-US" sz="142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文件是带有元数据的文件，能描述每个字节流段的功能是什么，这样内核就根据功能分开从而合理映射</a:t>
            </a:r>
            <a:r>
              <a:rPr lang="en-US" sz="142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ELF 总体布局图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04672" y="1417320"/>
            <a:ext cx="2926080" cy="4526280"/>
          </a:xfrm>
          <a:prstGeom prst="rect">
            <a:avLst/>
          </a:prstGeom>
          <a:solidFill>
            <a:srgbClr val="FFFFFF"/>
          </a:solidFill>
          <a:ln w="1524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32688" y="1517904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968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ELF 文件本体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78992" y="1874520"/>
            <a:ext cx="2377440" cy="694944"/>
          </a:xfrm>
          <a:prstGeom prst="rect">
            <a:avLst/>
          </a:prstGeom>
          <a:solidFill>
            <a:srgbClr val="F3E7B3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143000" y="2075688"/>
            <a:ext cx="22494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ELF header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74720" y="2221992"/>
            <a:ext cx="347472" cy="0"/>
          </a:xfrm>
          <a:prstGeom prst="line">
            <a:avLst/>
          </a:prstGeom>
          <a:noFill/>
          <a:ln w="10160">
            <a:solidFill>
              <a:srgbClr val="59647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886200" y="1892808"/>
            <a:ext cx="196596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告诉解析器：这是不是 ELF、入口在哪里、程序头/节头在哪里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1078992" y="2834640"/>
            <a:ext cx="2377440" cy="694944"/>
          </a:xfrm>
          <a:prstGeom prst="rect">
            <a:avLst/>
          </a:prstGeom>
          <a:solidFill>
            <a:srgbClr val="D8E7F6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143000" y="3035808"/>
            <a:ext cx="22494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Program header table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474720" y="3182112"/>
            <a:ext cx="347472" cy="0"/>
          </a:xfrm>
          <a:prstGeom prst="line">
            <a:avLst/>
          </a:prstGeom>
          <a:noFill/>
          <a:ln w="10160">
            <a:solidFill>
              <a:srgbClr val="59647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886200" y="2852928"/>
            <a:ext cx="196596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装载器真正关心：有哪些 Load 段，要映射到哪里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1078992" y="3794760"/>
            <a:ext cx="2377440" cy="694944"/>
          </a:xfrm>
          <a:prstGeom prst="rect">
            <a:avLst/>
          </a:prstGeom>
          <a:solidFill>
            <a:srgbClr val="DCE9D8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143000" y="3995928"/>
            <a:ext cx="22494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Segment data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474720" y="4142232"/>
            <a:ext cx="347472" cy="0"/>
          </a:xfrm>
          <a:prstGeom prst="line">
            <a:avLst/>
          </a:prstGeom>
          <a:noFill/>
          <a:ln w="10160">
            <a:solidFill>
              <a:srgbClr val="59647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886200" y="3813048"/>
            <a:ext cx="196596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文件里真的存在的字节内容，例如 .text/.rodata/.data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1078992" y="4754880"/>
            <a:ext cx="2377440" cy="694944"/>
          </a:xfrm>
          <a:prstGeom prst="rect">
            <a:avLst/>
          </a:prstGeom>
          <a:solidFill>
            <a:srgbClr val="FBFAF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143000" y="4956048"/>
            <a:ext cx="22494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Section header table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474720" y="5102352"/>
            <a:ext cx="347472" cy="0"/>
          </a:xfrm>
          <a:prstGeom prst="line">
            <a:avLst/>
          </a:prstGeom>
          <a:noFill/>
          <a:ln w="10160">
            <a:solidFill>
              <a:srgbClr val="59647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3886200" y="4773168"/>
            <a:ext cx="196596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链接/调试更关心；运行时装载不一定需要逐节看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263640" y="1737360"/>
            <a:ext cx="46177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309360" y="1783080"/>
            <a:ext cx="1097280" cy="859536"/>
          </a:xfrm>
          <a:prstGeom prst="rect">
            <a:avLst/>
          </a:prstGeom>
          <a:solidFill>
            <a:srgbClr val="8B6F00"/>
          </a:solidFill>
          <a:ln w="10160">
            <a:solidFill>
              <a:srgbClr val="8B6F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355080" y="1837944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ELF header</a:t>
            </a:r>
            <a:endParaRPr lang="en-US" sz="1170" dirty="0"/>
          </a:p>
        </p:txBody>
      </p:sp>
      <p:sp>
        <p:nvSpPr>
          <p:cNvPr id="29" name="Text 27"/>
          <p:cNvSpPr/>
          <p:nvPr/>
        </p:nvSpPr>
        <p:spPr>
          <a:xfrm>
            <a:off x="7507224" y="1810512"/>
            <a:ext cx="3319272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第一眼先看它：这是不是 ELF、入口地址在哪里、程序头和节头表从哪开始。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2779776"/>
            <a:ext cx="46177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309360" y="2825496"/>
            <a:ext cx="1097280" cy="859536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355080" y="2880360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Program header table</a:t>
            </a:r>
            <a:endParaRPr lang="en-US" sz="1170" dirty="0"/>
          </a:p>
        </p:txBody>
      </p:sp>
      <p:sp>
        <p:nvSpPr>
          <p:cNvPr id="33" name="Text 31"/>
          <p:cNvSpPr/>
          <p:nvPr/>
        </p:nvSpPr>
        <p:spPr>
          <a:xfrm>
            <a:off x="7507224" y="2852928"/>
            <a:ext cx="3319272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装载器重点关注：每个 program header 像是一条“把文件某段字节映射到某个虚拟地址”的指令。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63640" y="3822192"/>
            <a:ext cx="46177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309360" y="3867912"/>
            <a:ext cx="1097280" cy="859536"/>
          </a:xfrm>
          <a:prstGeom prst="rect">
            <a:avLst/>
          </a:prstGeom>
          <a:solidFill>
            <a:srgbClr val="A96832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355080" y="3922776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Section header table</a:t>
            </a:r>
            <a:endParaRPr lang="en-US" sz="1170" dirty="0"/>
          </a:p>
        </p:txBody>
      </p:sp>
      <p:sp>
        <p:nvSpPr>
          <p:cNvPr id="37" name="Text 35"/>
          <p:cNvSpPr/>
          <p:nvPr/>
        </p:nvSpPr>
        <p:spPr>
          <a:xfrm>
            <a:off x="7507224" y="3895344"/>
            <a:ext cx="3319272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更偏向链接器和调试器视角；运行时装载通常优先看 segment，而不是逐个 section 去装。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段 segment 与 节 section 的区别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27632"/>
            <a:ext cx="101498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86968" y="1673352"/>
            <a:ext cx="914400" cy="932688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32688" y="1728216"/>
            <a:ext cx="822960" cy="8595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section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1901952" y="1700784"/>
            <a:ext cx="9034272" cy="8961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更像“按内容和用途分的小块”。例如 `.text` 是代码，`.rodata` 是只读常量，`.symtab` 是符号表。它主要服务于链接、调试、分析。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" y="2743200"/>
            <a:ext cx="101498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86968" y="2788920"/>
            <a:ext cx="914400" cy="932688"/>
          </a:xfrm>
          <a:prstGeom prst="rect">
            <a:avLst/>
          </a:prstGeom>
          <a:solidFill>
            <a:srgbClr val="A96832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32688" y="2843784"/>
            <a:ext cx="822960" cy="8595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segment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1901952" y="2816352"/>
            <a:ext cx="9034272" cy="8961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更像“按装载需求打包好的大块”。装载器看的通常是 Load segment：起始虚拟地址、文件偏移、权限、大小。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" y="3858768"/>
            <a:ext cx="101498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901952" y="3931920"/>
            <a:ext cx="9034272" cy="8961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section 更偏“文件组织/链接视角”；segment 更偏“运行时装载视角”。后面 `from_elf` 遍历的是 program header，也就是 segment。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 section 与 load segment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4983480" cy="4846320"/>
          </a:xfrm>
          <a:prstGeom prst="rect">
            <a:avLst/>
          </a:prstGeom>
          <a:solidFill>
            <a:srgbClr val="FFFFFF"/>
          </a:solidFill>
          <a:ln w="1397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69264" y="1627632"/>
            <a:ext cx="46634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5D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 section：偏文件/链接视角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50976" y="1993392"/>
            <a:ext cx="46451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996696" y="2039112"/>
            <a:ext cx="1078992" cy="694944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42416" y="2093976"/>
            <a:ext cx="987552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.text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176272" y="2066544"/>
            <a:ext cx="3364992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程序代码，通常最终落到可执行、不可写的 RX 映射。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0976" y="2871216"/>
            <a:ext cx="46451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96696" y="2916936"/>
            <a:ext cx="1078992" cy="694944"/>
          </a:xfrm>
          <a:prstGeom prst="rect">
            <a:avLst/>
          </a:prstGeom>
          <a:solidFill>
            <a:srgbClr val="536B45"/>
          </a:solidFill>
          <a:ln w="10160">
            <a:solidFill>
              <a:srgbClr val="536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42416" y="2971800"/>
            <a:ext cx="987552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.rodata</a:t>
            </a:r>
            <a:endParaRPr lang="en-US" sz="1170" dirty="0"/>
          </a:p>
        </p:txBody>
      </p:sp>
      <p:sp>
        <p:nvSpPr>
          <p:cNvPr id="17" name="Text 15"/>
          <p:cNvSpPr/>
          <p:nvPr/>
        </p:nvSpPr>
        <p:spPr>
          <a:xfrm>
            <a:off x="2176272" y="2944368"/>
            <a:ext cx="3364992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只读常量；运行时一般给 R，不给 W。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0976" y="3749040"/>
            <a:ext cx="46451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996696" y="3794760"/>
            <a:ext cx="1078992" cy="694944"/>
          </a:xfrm>
          <a:prstGeom prst="rect">
            <a:avLst/>
          </a:prstGeom>
          <a:solidFill>
            <a:srgbClr val="A96832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042416" y="3849624"/>
            <a:ext cx="987552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.data/.bss</a:t>
            </a:r>
            <a:endParaRPr lang="en-US" sz="1170" dirty="0"/>
          </a:p>
        </p:txBody>
      </p:sp>
      <p:sp>
        <p:nvSpPr>
          <p:cNvPr id="21" name="Text 19"/>
          <p:cNvSpPr/>
          <p:nvPr/>
        </p:nvSpPr>
        <p:spPr>
          <a:xfrm>
            <a:off x="2176272" y="3822192"/>
            <a:ext cx="3364992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前者有初值，后者逻辑占空间但文件不必存满，所以常见 mem_size &gt; file_size。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0976" y="4626864"/>
            <a:ext cx="46451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996696" y="4672584"/>
            <a:ext cx="1078992" cy="694944"/>
          </a:xfrm>
          <a:prstGeom prst="rect">
            <a:avLst/>
          </a:prstGeom>
          <a:solidFill>
            <a:srgbClr val="8B6F00"/>
          </a:solidFill>
          <a:ln w="10160">
            <a:solidFill>
              <a:srgbClr val="8B6F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042416" y="4727448"/>
            <a:ext cx="987552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.symtab/.strtab</a:t>
            </a:r>
            <a:endParaRPr lang="en-US" sz="1170" dirty="0"/>
          </a:p>
        </p:txBody>
      </p:sp>
      <p:sp>
        <p:nvSpPr>
          <p:cNvPr id="25" name="Text 23"/>
          <p:cNvSpPr/>
          <p:nvPr/>
        </p:nvSpPr>
        <p:spPr>
          <a:xfrm>
            <a:off x="2176272" y="4700016"/>
            <a:ext cx="3364992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偏调试/链接用途；运行时通常不是必须装载的内容。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53328" y="1417320"/>
            <a:ext cx="4800600" cy="4846320"/>
          </a:xfrm>
          <a:prstGeom prst="rect">
            <a:avLst/>
          </a:prstGeom>
          <a:solidFill>
            <a:srgbClr val="FFFFFF"/>
          </a:solidFill>
          <a:ln w="1397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181344" y="1627632"/>
            <a:ext cx="45262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968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 Load segment：偏运行时装载视角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199632" y="1993392"/>
            <a:ext cx="44988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245352" y="2039112"/>
            <a:ext cx="1042416" cy="694944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291072" y="2093976"/>
            <a:ext cx="950976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Load RX</a:t>
            </a:r>
            <a:endParaRPr lang="en-US" sz="1170" dirty="0"/>
          </a:p>
        </p:txBody>
      </p:sp>
      <p:sp>
        <p:nvSpPr>
          <p:cNvPr id="31" name="Text 29"/>
          <p:cNvSpPr/>
          <p:nvPr/>
        </p:nvSpPr>
        <p:spPr>
          <a:xfrm>
            <a:off x="7388352" y="2066544"/>
            <a:ext cx="3255264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通常把代码和部分只读常量打包成可读/可执行段，装载到指定 VA 并赋 R/X。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99632" y="2871216"/>
            <a:ext cx="44988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245352" y="2916936"/>
            <a:ext cx="1042416" cy="694944"/>
          </a:xfrm>
          <a:prstGeom prst="rect">
            <a:avLst/>
          </a:prstGeom>
          <a:solidFill>
            <a:srgbClr val="536B45"/>
          </a:solidFill>
          <a:ln w="10160">
            <a:solidFill>
              <a:srgbClr val="536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291072" y="2971800"/>
            <a:ext cx="950976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Load RW</a:t>
            </a:r>
            <a:endParaRPr lang="en-US" sz="1170" dirty="0"/>
          </a:p>
        </p:txBody>
      </p:sp>
      <p:sp>
        <p:nvSpPr>
          <p:cNvPr id="35" name="Text 33"/>
          <p:cNvSpPr/>
          <p:nvPr/>
        </p:nvSpPr>
        <p:spPr>
          <a:xfrm>
            <a:off x="7388352" y="2944368"/>
            <a:ext cx="3255264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通常把 `.data + .bss` 打包成可写段；只 copy file_size，剩余部分按 mem_size 补零。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99632" y="3749040"/>
            <a:ext cx="44988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245352" y="3794760"/>
            <a:ext cx="1042416" cy="694944"/>
          </a:xfrm>
          <a:prstGeom prst="rect">
            <a:avLst/>
          </a:prstGeom>
          <a:solidFill>
            <a:srgbClr val="A96832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291072" y="3849624"/>
            <a:ext cx="950976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为什么按段装</a:t>
            </a:r>
            <a:endParaRPr lang="en-US" sz="1170" dirty="0"/>
          </a:p>
        </p:txBody>
      </p:sp>
      <p:sp>
        <p:nvSpPr>
          <p:cNvPr id="39" name="Text 37"/>
          <p:cNvSpPr/>
          <p:nvPr/>
        </p:nvSpPr>
        <p:spPr>
          <a:xfrm>
            <a:off x="7388352" y="3822192"/>
            <a:ext cx="3255264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因为运行时权限天然按段决定，比按 section 一节一节装更贴近页表权限。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ELF 到地址空间的映射关系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265176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60120" y="1737360"/>
            <a:ext cx="239572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A968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ELF 文件里看到的是 segment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143000" y="2240280"/>
            <a:ext cx="2011680" cy="713232"/>
          </a:xfrm>
          <a:prstGeom prst="rect">
            <a:avLst/>
          </a:prstGeom>
          <a:solidFill>
            <a:srgbClr val="D8E7F6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207008" y="2368296"/>
            <a:ext cx="1883664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Load RX 段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(file_size &lt;= mem_size)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1143000" y="3246120"/>
            <a:ext cx="2011680" cy="713232"/>
          </a:xfrm>
          <a:prstGeom prst="rect">
            <a:avLst/>
          </a:prstGeom>
          <a:solidFill>
            <a:srgbClr val="DCE9D8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207008" y="3374136"/>
            <a:ext cx="1883664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Load RW 段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(data + bss)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1143000" y="4251960"/>
            <a:ext cx="2011680" cy="713232"/>
          </a:xfrm>
          <a:prstGeom prst="rect">
            <a:avLst/>
          </a:prstGeom>
          <a:solidFill>
            <a:srgbClr val="FBFAF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207008" y="4379976"/>
            <a:ext cx="1883664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其余 section/调试信息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运行时未必映射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3840480" y="315468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445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=&gt;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92240" y="158191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高地址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562356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低地址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83480" y="1600200"/>
            <a:ext cx="13258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983480" y="1600200"/>
            <a:ext cx="1325880" cy="336499"/>
          </a:xfrm>
          <a:prstGeom prst="rect">
            <a:avLst/>
          </a:prstGeom>
          <a:solidFill>
            <a:srgbClr val="F7D7D5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056632" y="1645920"/>
            <a:ext cx="1179576" cy="24505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C445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Trampoline</a:t>
            </a:r>
            <a:endParaRPr lang="en-US" sz="1140" dirty="0"/>
          </a:p>
        </p:txBody>
      </p:sp>
      <p:sp>
        <p:nvSpPr>
          <p:cNvPr id="22" name="Shape 20"/>
          <p:cNvSpPr/>
          <p:nvPr/>
        </p:nvSpPr>
        <p:spPr>
          <a:xfrm>
            <a:off x="4983480" y="1936699"/>
            <a:ext cx="1325880" cy="420624"/>
          </a:xfrm>
          <a:prstGeom prst="rect">
            <a:avLst/>
          </a:prstGeom>
          <a:solidFill>
            <a:srgbClr val="D8E7F6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056632" y="1982419"/>
            <a:ext cx="117957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TrapContext</a:t>
            </a:r>
            <a:endParaRPr lang="en-US" sz="1140" dirty="0"/>
          </a:p>
        </p:txBody>
      </p:sp>
      <p:sp>
        <p:nvSpPr>
          <p:cNvPr id="24" name="Shape 22"/>
          <p:cNvSpPr/>
          <p:nvPr/>
        </p:nvSpPr>
        <p:spPr>
          <a:xfrm>
            <a:off x="4983480" y="2357323"/>
            <a:ext cx="1325880" cy="1261872"/>
          </a:xfrm>
          <a:prstGeom prst="rect">
            <a:avLst/>
          </a:prstGeom>
          <a:solidFill>
            <a:srgbClr val="FFFFFF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056632" y="2403043"/>
            <a:ext cx="1179576" cy="11704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空洞</a:t>
            </a:r>
            <a:endParaRPr lang="en-US" sz="1140" dirty="0"/>
          </a:p>
        </p:txBody>
      </p:sp>
      <p:sp>
        <p:nvSpPr>
          <p:cNvPr id="26" name="Shape 24"/>
          <p:cNvSpPr/>
          <p:nvPr/>
        </p:nvSpPr>
        <p:spPr>
          <a:xfrm>
            <a:off x="4983480" y="3619195"/>
            <a:ext cx="1325880" cy="252374"/>
          </a:xfrm>
          <a:prstGeom prst="rect">
            <a:avLst/>
          </a:prstGeom>
          <a:solidFill>
            <a:srgbClr val="DCE9D8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056632" y="3664915"/>
            <a:ext cx="1179576" cy="16093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heap 起点</a:t>
            </a:r>
            <a:endParaRPr lang="en-US" sz="1140" dirty="0"/>
          </a:p>
        </p:txBody>
      </p:sp>
      <p:sp>
        <p:nvSpPr>
          <p:cNvPr id="28" name="Shape 26"/>
          <p:cNvSpPr/>
          <p:nvPr/>
        </p:nvSpPr>
        <p:spPr>
          <a:xfrm>
            <a:off x="4983480" y="3871570"/>
            <a:ext cx="1325880" cy="504749"/>
          </a:xfrm>
          <a:prstGeom prst="rect">
            <a:avLst/>
          </a:prstGeom>
          <a:solidFill>
            <a:srgbClr val="D8E7F6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056632" y="3917290"/>
            <a:ext cx="1179576" cy="41330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user stack</a:t>
            </a:r>
            <a:endParaRPr lang="en-US" sz="1140" dirty="0"/>
          </a:p>
        </p:txBody>
      </p:sp>
      <p:sp>
        <p:nvSpPr>
          <p:cNvPr id="30" name="Shape 28"/>
          <p:cNvSpPr/>
          <p:nvPr/>
        </p:nvSpPr>
        <p:spPr>
          <a:xfrm>
            <a:off x="4983480" y="4376318"/>
            <a:ext cx="1325880" cy="210312"/>
          </a:xfrm>
          <a:prstGeom prst="rect">
            <a:avLst/>
          </a:prstGeom>
          <a:solidFill>
            <a:srgbClr val="FFFFFF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056632" y="4422038"/>
            <a:ext cx="1179576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C445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guard</a:t>
            </a:r>
            <a:endParaRPr lang="en-US" sz="1140" dirty="0"/>
          </a:p>
        </p:txBody>
      </p:sp>
      <p:sp>
        <p:nvSpPr>
          <p:cNvPr id="32" name="Shape 30"/>
          <p:cNvSpPr/>
          <p:nvPr/>
        </p:nvSpPr>
        <p:spPr>
          <a:xfrm>
            <a:off x="4983480" y="4586630"/>
            <a:ext cx="1325880" cy="1219810"/>
          </a:xfrm>
          <a:prstGeom prst="rect">
            <a:avLst/>
          </a:prstGeom>
          <a:solidFill>
            <a:srgbClr val="DCE9D8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5056632" y="4632350"/>
            <a:ext cx="1179576" cy="11283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Load 段</a:t>
            </a:r>
            <a:endParaRPr lang="en-US" sz="1140" dirty="0"/>
          </a:p>
        </p:txBody>
      </p:sp>
      <p:sp>
        <p:nvSpPr>
          <p:cNvPr id="34" name="Text 32"/>
          <p:cNvSpPr/>
          <p:nvPr/>
        </p:nvSpPr>
        <p:spPr>
          <a:xfrm>
            <a:off x="6903720" y="1828800"/>
            <a:ext cx="374904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装载器不是“把整个 ELF 文件搬到内存里”，而是只挑出 Load 段，并映射到指定虚拟地址。</a:t>
            </a:r>
            <a:endParaRPr lang="en-US" sz="1520" dirty="0"/>
          </a:p>
        </p:txBody>
      </p:sp>
      <p:sp>
        <p:nvSpPr>
          <p:cNvPr id="35" name="Shape 33"/>
          <p:cNvSpPr/>
          <p:nvPr/>
        </p:nvSpPr>
        <p:spPr>
          <a:xfrm>
            <a:off x="6967728" y="2889504"/>
            <a:ext cx="73152" cy="73152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7114032" y="2788920"/>
            <a:ext cx="3511296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ELF 里真正驱动运行时装载的是 program header table。</a:t>
            </a:r>
            <a:endParaRPr lang="en-US" sz="1340" dirty="0"/>
          </a:p>
        </p:txBody>
      </p:sp>
      <p:sp>
        <p:nvSpPr>
          <p:cNvPr id="37" name="Shape 35"/>
          <p:cNvSpPr/>
          <p:nvPr/>
        </p:nvSpPr>
        <p:spPr>
          <a:xfrm>
            <a:off x="6967728" y="3456432"/>
            <a:ext cx="73152" cy="73152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7114032" y="3355848"/>
            <a:ext cx="3511296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文件中的调试节、符号表等可以存在，但用户地址空间里未必会映射它们。</a:t>
            </a:r>
            <a:endParaRPr lang="en-US" sz="1340" dirty="0"/>
          </a:p>
        </p:txBody>
      </p:sp>
      <p:sp>
        <p:nvSpPr>
          <p:cNvPr id="39" name="Shape 37"/>
          <p:cNvSpPr/>
          <p:nvPr/>
        </p:nvSpPr>
        <p:spPr>
          <a:xfrm>
            <a:off x="6967728" y="4023360"/>
            <a:ext cx="73152" cy="73152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7114032" y="3922776"/>
            <a:ext cx="3511296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映射后看到的是</a:t>
            </a:r>
            <a:r>
              <a:rPr lang="zh-CN" altLang="en-US" sz="134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程序被装载到内存中</a:t>
            </a:r>
            <a:r>
              <a:rPr lang="en-US" sz="134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</a:t>
            </a:r>
            <a:r>
              <a:rPr lang="en-US" sz="134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虚拟地址空间布局</a:t>
            </a:r>
            <a:r>
              <a:rPr lang="en-US" sz="134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”</a:t>
            </a:r>
            <a:endParaRPr lang="en-US" sz="13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内核地址空间总览图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40/54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566160" y="130759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高地址</a:t>
            </a:r>
            <a:r>
              <a:rPr lang="zh-CN" altLang="en-US" sz="1100" b="1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594360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低地址</a:t>
            </a:r>
            <a:r>
              <a:rPr lang="zh-CN" altLang="en-US" sz="1100" b="1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1325880"/>
            <a:ext cx="246888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914400" y="1325880"/>
            <a:ext cx="2468880" cy="417443"/>
          </a:xfrm>
          <a:prstGeom prst="rect">
            <a:avLst/>
          </a:prstGeom>
          <a:solidFill>
            <a:srgbClr val="F7D7D5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87552" y="1371600"/>
            <a:ext cx="2322576" cy="32600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C445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Trampoline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3383280" y="1534602"/>
            <a:ext cx="292608" cy="0"/>
          </a:xfrm>
          <a:prstGeom prst="line">
            <a:avLst/>
          </a:prstGeom>
          <a:noFill/>
          <a:ln w="10160">
            <a:solidFill>
              <a:srgbClr val="59647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730752" y="1388298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依旧位于最高页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914400" y="1743323"/>
            <a:ext cx="2468880" cy="834887"/>
          </a:xfrm>
          <a:prstGeom prst="rect">
            <a:avLst/>
          </a:prstGeom>
          <a:solidFill>
            <a:srgbClr val="F6E0C9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87552" y="1789043"/>
            <a:ext cx="2322576" cy="74344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KStack 槽位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3383280" y="2160767"/>
            <a:ext cx="292608" cy="0"/>
          </a:xfrm>
          <a:prstGeom prst="line">
            <a:avLst/>
          </a:prstGeom>
          <a:noFill/>
          <a:ln w="10160">
            <a:solidFill>
              <a:srgbClr val="59647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730752" y="2014463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每个任务向下分一段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914400" y="2578210"/>
            <a:ext cx="2468880" cy="417443"/>
          </a:xfrm>
          <a:prstGeom prst="rect">
            <a:avLst/>
          </a:prstGeom>
          <a:solidFill>
            <a:srgbClr val="FFFFFF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87552" y="2623930"/>
            <a:ext cx="2322576" cy="32600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C445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guard page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3383280" y="2786932"/>
            <a:ext cx="292608" cy="0"/>
          </a:xfrm>
          <a:prstGeom prst="line">
            <a:avLst/>
          </a:prstGeom>
          <a:noFill/>
          <a:ln w="10160">
            <a:solidFill>
              <a:srgbClr val="59647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730752" y="2640628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故意空出来防栈越界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914400" y="2995654"/>
            <a:ext cx="2468880" cy="1252330"/>
          </a:xfrm>
          <a:prstGeom prst="rect">
            <a:avLst/>
          </a:prstGeom>
          <a:solidFill>
            <a:srgbClr val="FFFFFF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987552" y="3041374"/>
            <a:ext cx="2322576" cy="116089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中间大空洞</a:t>
            </a:r>
            <a:endParaRPr lang="en-US" sz="1140" dirty="0"/>
          </a:p>
        </p:txBody>
      </p:sp>
      <p:sp>
        <p:nvSpPr>
          <p:cNvPr id="25" name="Shape 23"/>
          <p:cNvSpPr/>
          <p:nvPr/>
        </p:nvSpPr>
        <p:spPr>
          <a:xfrm>
            <a:off x="3383280" y="3621819"/>
            <a:ext cx="292608" cy="0"/>
          </a:xfrm>
          <a:prstGeom prst="line">
            <a:avLst/>
          </a:prstGeom>
          <a:noFill/>
          <a:ln w="10160">
            <a:solidFill>
              <a:srgbClr val="59647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730752" y="3475515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保留大量高地址槽位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914400" y="4247984"/>
            <a:ext cx="2468880" cy="939248"/>
          </a:xfrm>
          <a:prstGeom prst="rect">
            <a:avLst/>
          </a:prstGeom>
          <a:solidFill>
            <a:srgbClr val="F6E0C9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8" name="Text 26"/>
          <p:cNvSpPr/>
          <p:nvPr/>
        </p:nvSpPr>
        <p:spPr>
          <a:xfrm>
            <a:off x="987552" y="4293704"/>
            <a:ext cx="2322576" cy="847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3383280" y="4717608"/>
            <a:ext cx="292608" cy="0"/>
          </a:xfrm>
          <a:prstGeom prst="line">
            <a:avLst/>
          </a:prstGeom>
          <a:noFill/>
          <a:ln w="10160">
            <a:solidFill>
              <a:srgbClr val="59647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3730752" y="4571304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914400" y="5187232"/>
            <a:ext cx="2468880" cy="939248"/>
          </a:xfrm>
          <a:prstGeom prst="rect">
            <a:avLst/>
          </a:prstGeom>
          <a:solidFill>
            <a:srgbClr val="FBFAF5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987552" y="5232952"/>
            <a:ext cx="2322576" cy="847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altLang="zh-CN" dirty="0" err="1"/>
              <a:t>物理内存直映</a:t>
            </a:r>
            <a:endParaRPr lang="zh-CN" altLang="zh-CN" sz="1200" dirty="0"/>
          </a:p>
          <a:p>
            <a:pPr marL="0" indent="0" algn="ctr">
              <a:buNone/>
            </a:pPr>
            <a:endParaRPr lang="en-US" sz="1140" dirty="0"/>
          </a:p>
        </p:txBody>
      </p:sp>
      <p:sp>
        <p:nvSpPr>
          <p:cNvPr id="33" name="Shape 31"/>
          <p:cNvSpPr/>
          <p:nvPr/>
        </p:nvSpPr>
        <p:spPr>
          <a:xfrm>
            <a:off x="3383280" y="5656856"/>
            <a:ext cx="292608" cy="0"/>
          </a:xfrm>
          <a:prstGeom prst="line">
            <a:avLst/>
          </a:prstGeom>
          <a:noFill/>
          <a:ln w="10160">
            <a:solidFill>
              <a:srgbClr val="59647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3730752" y="5510552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CN" sz="106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</a:t>
            </a:r>
            <a:r>
              <a:rPr lang="en-US" altLang="zh-CN" sz="1060" dirty="0" err="1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ekernel</a:t>
            </a:r>
            <a:r>
              <a:rPr lang="en-US" altLang="zh-CN" sz="106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, MEMORY_END)</a:t>
            </a:r>
            <a:endParaRPr lang="en-US" altLang="zh-CN" sz="1060" dirty="0"/>
          </a:p>
          <a:p>
            <a:pPr marL="0" indent="0">
              <a:buNone/>
            </a:pP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5286639" y="1536192"/>
            <a:ext cx="6812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5332359" y="1581912"/>
            <a:ext cx="1051560" cy="731520"/>
          </a:xfrm>
          <a:prstGeom prst="rect">
            <a:avLst/>
          </a:prstGeom>
          <a:solidFill>
            <a:srgbClr val="A96832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5378079" y="1636776"/>
            <a:ext cx="96012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和用户空间不同</a:t>
            </a:r>
            <a:endParaRPr lang="en-US" sz="1170" dirty="0"/>
          </a:p>
        </p:txBody>
      </p:sp>
      <p:sp>
        <p:nvSpPr>
          <p:cNvPr id="38" name="Text 36"/>
          <p:cNvSpPr/>
          <p:nvPr/>
        </p:nvSpPr>
        <p:spPr>
          <a:xfrm>
            <a:off x="6484503" y="1609344"/>
            <a:ext cx="5559552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内核空间不是“每个进程一份”，而是这版 rCore 里一张共享空间，所有任务共用。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286639" y="2450592"/>
            <a:ext cx="6812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5332359" y="2496312"/>
            <a:ext cx="1051560" cy="731520"/>
          </a:xfrm>
          <a:prstGeom prst="rect">
            <a:avLst/>
          </a:prstGeom>
          <a:solidFill>
            <a:srgbClr val="536B45"/>
          </a:solidFill>
          <a:ln w="10160">
            <a:solidFill>
              <a:srgbClr val="536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5378079" y="2551176"/>
            <a:ext cx="96012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低地址部分</a:t>
            </a:r>
            <a:endParaRPr lang="en-US" sz="1170" dirty="0"/>
          </a:p>
        </p:txBody>
      </p:sp>
      <p:sp>
        <p:nvSpPr>
          <p:cNvPr id="42" name="Text 40"/>
          <p:cNvSpPr/>
          <p:nvPr/>
        </p:nvSpPr>
        <p:spPr>
          <a:xfrm>
            <a:off x="6484503" y="2523744"/>
            <a:ext cx="5559552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主要是内核自身各段以及对物理内存的直映。这里大量使用 Identical 映射。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286639" y="3364992"/>
            <a:ext cx="6812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5332359" y="3410712"/>
            <a:ext cx="1051560" cy="731520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5378079" y="3465576"/>
            <a:ext cx="96012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高地址部分</a:t>
            </a:r>
            <a:endParaRPr lang="en-US" sz="1170" dirty="0"/>
          </a:p>
        </p:txBody>
      </p:sp>
      <p:sp>
        <p:nvSpPr>
          <p:cNvPr id="46" name="Text 44"/>
          <p:cNvSpPr/>
          <p:nvPr/>
        </p:nvSpPr>
        <p:spPr>
          <a:xfrm>
            <a:off x="6484503" y="3438144"/>
            <a:ext cx="5559552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顶页仍然保留 trampoline，再往下是按任务 ID 预留的 kernel stack 槽位和 guard page。</a:t>
            </a:r>
            <a:endParaRPr lang="en-US" sz="1200" dirty="0"/>
          </a:p>
        </p:txBody>
      </p:sp>
      <p:sp>
        <p:nvSpPr>
          <p:cNvPr id="51" name="文本框 50"/>
          <p:cNvSpPr txBox="1"/>
          <p:nvPr/>
        </p:nvSpPr>
        <p:spPr>
          <a:xfrm>
            <a:off x="932688" y="4495800"/>
            <a:ext cx="2377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.</a:t>
            </a:r>
            <a:r>
              <a:rPr lang="en-US" altLang="zh-CN" dirty="0" err="1"/>
              <a:t>bss</a:t>
            </a:r>
            <a:r>
              <a:rPr lang="en-US" altLang="zh-CN" dirty="0"/>
              <a:t>/.data/.</a:t>
            </a:r>
            <a:r>
              <a:rPr lang="en-US" altLang="zh-CN" dirty="0" err="1"/>
              <a:t>rodata</a:t>
            </a:r>
            <a:r>
              <a:rPr lang="en-US" altLang="zh-CN" dirty="0"/>
              <a:t>/.text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52" name="文本框 51"/>
          <p:cNvSpPr txBox="1"/>
          <p:nvPr/>
        </p:nvSpPr>
        <p:spPr>
          <a:xfrm>
            <a:off x="3730752" y="4624754"/>
            <a:ext cx="219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按段权限区分</a:t>
            </a:r>
            <a:endParaRPr lang="zh-CN" altLang="en-US" dirty="0"/>
          </a:p>
        </p:txBody>
      </p:sp>
      <p:cxnSp>
        <p:nvCxnSpPr>
          <p:cNvPr id="54" name="直接箭头连接符 53"/>
          <p:cNvCxnSpPr/>
          <p:nvPr/>
        </p:nvCxnSpPr>
        <p:spPr>
          <a:xfrm flipV="1">
            <a:off x="853440" y="1325880"/>
            <a:ext cx="0" cy="1669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>
            <a:off x="806027" y="4247984"/>
            <a:ext cx="0" cy="1878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恒等映射（Identical Mapping）的直观图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41/54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1097280"/>
            <a:ext cx="24048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968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内核虚拟地址空间中的直映区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8096" y="1298448"/>
            <a:ext cx="236829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较高 VA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768096" y="4489704"/>
            <a:ext cx="236829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较低 VA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786384" y="1408176"/>
            <a:ext cx="23317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86384" y="1408176"/>
            <a:ext cx="2331720" cy="950661"/>
          </a:xfrm>
          <a:prstGeom prst="rect">
            <a:avLst/>
          </a:prstGeom>
          <a:solidFill>
            <a:srgbClr val="F6E0C9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22960" y="1444752"/>
            <a:ext cx="2258568" cy="87750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968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[ekernel, MEMORY_END)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" y="2175957"/>
            <a:ext cx="224028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物理内存直映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786384" y="2358837"/>
            <a:ext cx="2331720" cy="528145"/>
          </a:xfrm>
          <a:prstGeom prst="rect">
            <a:avLst/>
          </a:prstGeom>
          <a:solidFill>
            <a:srgbClr val="FBFAF5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22960" y="2395413"/>
            <a:ext cx="2258568" cy="4549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.bss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6384" y="2886982"/>
            <a:ext cx="2331720" cy="528145"/>
          </a:xfrm>
          <a:prstGeom prst="rect">
            <a:avLst/>
          </a:prstGeom>
          <a:solidFill>
            <a:srgbClr val="FBFAF5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22960" y="2923558"/>
            <a:ext cx="2258568" cy="4549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.data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6384" y="3415126"/>
            <a:ext cx="2331720" cy="528145"/>
          </a:xfrm>
          <a:prstGeom prst="rect">
            <a:avLst/>
          </a:prstGeom>
          <a:solidFill>
            <a:srgbClr val="FBFAF5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22960" y="3451702"/>
            <a:ext cx="2258568" cy="4549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.rodata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86384" y="3943271"/>
            <a:ext cx="2331720" cy="528145"/>
          </a:xfrm>
          <a:prstGeom prst="rect">
            <a:avLst/>
          </a:prstGeom>
          <a:solidFill>
            <a:srgbClr val="FBFAF5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22960" y="3979847"/>
            <a:ext cx="2258568" cy="4549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.text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53712" y="1097280"/>
            <a:ext cx="24048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5D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物理内存中的对应区间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1298448"/>
            <a:ext cx="236829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较高 PA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572000" y="4489704"/>
            <a:ext cx="236829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较低 PA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590288" y="1408176"/>
            <a:ext cx="23317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4599432" y="1415271"/>
            <a:ext cx="2331720" cy="950661"/>
          </a:xfrm>
          <a:prstGeom prst="rect">
            <a:avLst/>
          </a:prstGeom>
          <a:solidFill>
            <a:srgbClr val="F6E0C9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4626864" y="1444752"/>
            <a:ext cx="2258568" cy="87750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968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[ekernel, MEMORY_END)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36008" y="2175957"/>
            <a:ext cx="224028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同样的物理区间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4590288" y="2358837"/>
            <a:ext cx="2331720" cy="528145"/>
          </a:xfrm>
          <a:prstGeom prst="rect">
            <a:avLst/>
          </a:prstGeom>
          <a:solidFill>
            <a:srgbClr val="FBFAF5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626864" y="2395413"/>
            <a:ext cx="2258568" cy="4549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.bss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90288" y="2886982"/>
            <a:ext cx="2331720" cy="528145"/>
          </a:xfrm>
          <a:prstGeom prst="rect">
            <a:avLst/>
          </a:prstGeom>
          <a:solidFill>
            <a:srgbClr val="FBFAF5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626864" y="2923558"/>
            <a:ext cx="2258568" cy="4549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.data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90288" y="3415126"/>
            <a:ext cx="2331720" cy="528145"/>
          </a:xfrm>
          <a:prstGeom prst="rect">
            <a:avLst/>
          </a:prstGeom>
          <a:solidFill>
            <a:srgbClr val="FBFAF5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4626864" y="3451702"/>
            <a:ext cx="2258568" cy="4549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.rodata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90288" y="3943271"/>
            <a:ext cx="2331720" cy="528145"/>
          </a:xfrm>
          <a:prstGeom prst="rect">
            <a:avLst/>
          </a:prstGeom>
          <a:solidFill>
            <a:srgbClr val="FBFAF5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4626864" y="3979847"/>
            <a:ext cx="2258568" cy="4549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.text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118104" y="4207344"/>
            <a:ext cx="1472184" cy="0"/>
          </a:xfrm>
          <a:prstGeom prst="line">
            <a:avLst/>
          </a:prstGeom>
          <a:noFill/>
          <a:ln w="16510">
            <a:solidFill>
              <a:srgbClr val="2F5D8A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3118104" y="3679199"/>
            <a:ext cx="1472184" cy="0"/>
          </a:xfrm>
          <a:prstGeom prst="line">
            <a:avLst/>
          </a:prstGeom>
          <a:noFill/>
          <a:ln w="16891">
            <a:solidFill>
              <a:srgbClr val="2F5D8A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3118104" y="3151054"/>
            <a:ext cx="1472184" cy="0"/>
          </a:xfrm>
          <a:prstGeom prst="line">
            <a:avLst/>
          </a:prstGeom>
          <a:noFill/>
          <a:ln w="17272">
            <a:solidFill>
              <a:srgbClr val="2F5D8A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3118104" y="2622909"/>
            <a:ext cx="1472184" cy="0"/>
          </a:xfrm>
          <a:prstGeom prst="line">
            <a:avLst/>
          </a:prstGeom>
          <a:noFill/>
          <a:ln w="17653">
            <a:solidFill>
              <a:srgbClr val="2F5D8A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3118104" y="1883506"/>
            <a:ext cx="1481328" cy="23964"/>
          </a:xfrm>
          <a:prstGeom prst="line">
            <a:avLst/>
          </a:prstGeom>
          <a:noFill/>
          <a:ln w="18034">
            <a:solidFill>
              <a:srgbClr val="A96832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3529584" y="2103120"/>
            <a:ext cx="868680" cy="1609344"/>
          </a:xfrm>
          <a:prstGeom prst="rect">
            <a:avLst/>
          </a:prstGeom>
          <a:solidFill>
            <a:srgbClr val="FBFAF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3621024" y="2359152"/>
            <a:ext cx="685800" cy="10789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恒等映射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就是这些区间里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虚拟地址数值 = 物理地址数值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96112" y="4572000"/>
            <a:ext cx="59893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例如内核里 `.text/.rodata/.data/.bss` 和 `[ekernel, MEMORY_END)` 这些区间，都会把 VA 与 PA 设成同一个数值。</a:t>
            </a:r>
            <a:endParaRPr lang="en-US" sz="1120" dirty="0"/>
          </a:p>
        </p:txBody>
      </p:sp>
      <p:sp>
        <p:nvSpPr>
          <p:cNvPr id="46" name="Shape 44"/>
          <p:cNvSpPr/>
          <p:nvPr/>
        </p:nvSpPr>
        <p:spPr>
          <a:xfrm>
            <a:off x="786384" y="4901184"/>
            <a:ext cx="10012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32104" y="4946904"/>
            <a:ext cx="841248" cy="182880"/>
          </a:xfrm>
          <a:prstGeom prst="rect">
            <a:avLst/>
          </a:prstGeom>
          <a:solidFill>
            <a:srgbClr val="A96832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77824" y="5001768"/>
            <a:ext cx="74980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它不是什么</a:t>
            </a:r>
            <a:endParaRPr lang="en-US" sz="1170" dirty="0"/>
          </a:p>
        </p:txBody>
      </p:sp>
      <p:sp>
        <p:nvSpPr>
          <p:cNvPr id="49" name="Text 47"/>
          <p:cNvSpPr/>
          <p:nvPr/>
        </p:nvSpPr>
        <p:spPr>
          <a:xfrm>
            <a:off x="1773936" y="4974336"/>
            <a:ext cx="8970264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恒等映射不是“没有页表”或“CPU 直接绕过翻译”。页表依然存在，CPU 还是会做页表 walk；只是最终写进叶子 PTE 的物理页号，恰好与这段虚拟地址对应的页号一一相同。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86384" y="5221224"/>
            <a:ext cx="10012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32104" y="5266944"/>
            <a:ext cx="841248" cy="182880"/>
          </a:xfrm>
          <a:prstGeom prst="rect">
            <a:avLst/>
          </a:prstGeom>
          <a:solidFill>
            <a:srgbClr val="536B45"/>
          </a:solidFill>
          <a:ln w="10160">
            <a:solidFill>
              <a:srgbClr val="536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877824" y="5321808"/>
            <a:ext cx="74980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优点 1</a:t>
            </a:r>
            <a:endParaRPr lang="en-US" sz="1170" dirty="0"/>
          </a:p>
        </p:txBody>
      </p:sp>
      <p:sp>
        <p:nvSpPr>
          <p:cNvPr id="53" name="Text 51"/>
          <p:cNvSpPr/>
          <p:nvPr/>
        </p:nvSpPr>
        <p:spPr>
          <a:xfrm>
            <a:off x="1773936" y="5294376"/>
            <a:ext cx="8970264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实现简单，特别适合内核启动早期和底层内存管理：看到某个内核地址时，不必再额外换算，就能直观知道它对应哪段物理内存。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86384" y="5541264"/>
            <a:ext cx="10012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832104" y="5586984"/>
            <a:ext cx="841248" cy="182880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877824" y="5641848"/>
            <a:ext cx="74980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优点 2</a:t>
            </a:r>
            <a:endParaRPr lang="en-US" sz="1170" dirty="0"/>
          </a:p>
        </p:txBody>
      </p:sp>
      <p:sp>
        <p:nvSpPr>
          <p:cNvPr id="57" name="Text 55"/>
          <p:cNvSpPr/>
          <p:nvPr/>
        </p:nvSpPr>
        <p:spPr>
          <a:xfrm>
            <a:off x="1773936" y="5614416"/>
            <a:ext cx="8970264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对内核正文、物理内存直映区、页表访问和很多底层调试都很友好，因为地址关系稳定、可预期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86384" y="5861304"/>
            <a:ext cx="10012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832104" y="5907024"/>
            <a:ext cx="841248" cy="182880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877824" y="5961888"/>
            <a:ext cx="74980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缺点 1</a:t>
            </a:r>
            <a:endParaRPr lang="en-US" sz="1170" dirty="0"/>
          </a:p>
        </p:txBody>
      </p:sp>
      <p:sp>
        <p:nvSpPr>
          <p:cNvPr id="61" name="Text 59"/>
          <p:cNvSpPr/>
          <p:nvPr/>
        </p:nvSpPr>
        <p:spPr>
          <a:xfrm>
            <a:off x="1773936" y="5934456"/>
            <a:ext cx="8970264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灵活性差。既然要求 VA=</a:t>
            </a:r>
            <a:r>
              <a:rPr lang="en-US" sz="12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PA，就很难自由重新布局内核虚拟空间，也不利于做地址随机化、重定位</a:t>
            </a: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86384" y="6181344"/>
            <a:ext cx="10012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832104" y="6227064"/>
            <a:ext cx="841248" cy="182880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877824" y="6281928"/>
            <a:ext cx="74980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缺点 2</a:t>
            </a:r>
            <a:endParaRPr lang="en-US" sz="1170" dirty="0"/>
          </a:p>
        </p:txBody>
      </p:sp>
      <p:sp>
        <p:nvSpPr>
          <p:cNvPr id="65" name="Text 63"/>
          <p:cNvSpPr/>
          <p:nvPr/>
        </p:nvSpPr>
        <p:spPr>
          <a:xfrm>
            <a:off x="1773936" y="6254496"/>
            <a:ext cx="8970264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并不是所有映射都适合做恒等映射。像 `TRAMPOLINE`、每个任务的高地址 kernel stack、TrapContext 这些本来就是为了放到特定高地址才有意义，所以它们通常不会采用 identical mapping。</a:t>
            </a:r>
            <a:endParaRPr lang="en-US" sz="1200" dirty="0"/>
          </a:p>
        </p:txBody>
      </p:sp>
      <p:cxnSp>
        <p:nvCxnSpPr>
          <p:cNvPr id="73" name="直接箭头连接符 72"/>
          <p:cNvCxnSpPr/>
          <p:nvPr/>
        </p:nvCxnSpPr>
        <p:spPr>
          <a:xfrm flipV="1">
            <a:off x="629920" y="1408176"/>
            <a:ext cx="0" cy="3063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/>
        </p:nvCxnSpPr>
        <p:spPr>
          <a:xfrm flipV="1">
            <a:off x="7064587" y="1444752"/>
            <a:ext cx="0" cy="3026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共享 Trampoline 物理页的映射关系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42/54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1152144"/>
            <a:ext cx="21762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968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共享内核地址空间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353312"/>
            <a:ext cx="213969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高地址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640080" y="5367528"/>
            <a:ext cx="213969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低地址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58368" y="1463040"/>
            <a:ext cx="21031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58368" y="1463040"/>
            <a:ext cx="2103120" cy="431800"/>
          </a:xfrm>
          <a:prstGeom prst="rect">
            <a:avLst/>
          </a:prstGeom>
          <a:solidFill>
            <a:srgbClr val="F7D7D5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94944" y="1499616"/>
            <a:ext cx="2029968" cy="3586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45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TRAMPOLINE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4088" y="1711960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最高虚拟页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658368" y="1894840"/>
            <a:ext cx="2103120" cy="647700"/>
          </a:xfrm>
          <a:prstGeom prst="rect">
            <a:avLst/>
          </a:prstGeom>
          <a:solidFill>
            <a:srgbClr val="F6E0C9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94944" y="1931416"/>
            <a:ext cx="2029968" cy="5745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kernel stack 槽位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" y="2542540"/>
            <a:ext cx="2103120" cy="1468120"/>
          </a:xfrm>
          <a:prstGeom prst="rect">
            <a:avLst/>
          </a:prstGeom>
          <a:solidFill>
            <a:srgbClr val="FFFFFF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94944" y="2579116"/>
            <a:ext cx="2029968" cy="13949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中间空洞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" y="4010660"/>
            <a:ext cx="2103120" cy="561340"/>
          </a:xfrm>
          <a:prstGeom prst="rect">
            <a:avLst/>
          </a:prstGeom>
          <a:solidFill>
            <a:srgbClr val="FBFAF5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94944" y="4047236"/>
            <a:ext cx="2029968" cy="4881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968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.text.trampoline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A968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strampoline 所在代码页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4088" y="4389120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内核低地址代码区里的那一页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58368" y="4572000"/>
            <a:ext cx="2103120" cy="777240"/>
          </a:xfrm>
          <a:prstGeom prst="rect">
            <a:avLst/>
          </a:prstGeom>
          <a:solidFill>
            <a:srgbClr val="FBFAF5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94944" y="4608576"/>
            <a:ext cx="2029968" cy="7040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.text/.rodata/.data...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36976" y="1536192"/>
            <a:ext cx="170078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5D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用户进程 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55264" y="1737360"/>
            <a:ext cx="1664208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高地址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3255264" y="5065776"/>
            <a:ext cx="1664208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低地址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3273552" y="1847088"/>
            <a:ext cx="162763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3273552" y="1847088"/>
            <a:ext cx="1627632" cy="548640"/>
          </a:xfrm>
          <a:prstGeom prst="rect">
            <a:avLst/>
          </a:prstGeom>
          <a:solidFill>
            <a:srgbClr val="F7D7D5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3310128" y="1883664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45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TRAMPOLINE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73552" y="2395728"/>
            <a:ext cx="1627632" cy="457200"/>
          </a:xfrm>
          <a:prstGeom prst="rect">
            <a:avLst/>
          </a:prstGeom>
          <a:solidFill>
            <a:srgbClr val="D8E7F6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3310128" y="2432304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TrapContext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73552" y="2852928"/>
            <a:ext cx="1627632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3310128" y="2889504"/>
            <a:ext cx="1554480" cy="1298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空洞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73552" y="4224528"/>
            <a:ext cx="1627632" cy="822960"/>
          </a:xfrm>
          <a:prstGeom prst="rect">
            <a:avLst/>
          </a:prstGeom>
          <a:solidFill>
            <a:srgbClr val="D8E7F6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3310128" y="4261104"/>
            <a:ext cx="155448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ELF / stack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49824" y="1536192"/>
            <a:ext cx="170078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5D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用户进程 B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68112" y="1737360"/>
            <a:ext cx="1664208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高地址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5468112" y="5065776"/>
            <a:ext cx="1664208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低地址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5486400" y="1847088"/>
            <a:ext cx="162763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5486400" y="1847088"/>
            <a:ext cx="1627632" cy="548640"/>
          </a:xfrm>
          <a:prstGeom prst="rect">
            <a:avLst/>
          </a:prstGeom>
          <a:solidFill>
            <a:srgbClr val="F7D7D5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5522976" y="1883664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45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TRAMPOLINE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0" y="2395728"/>
            <a:ext cx="1627632" cy="457200"/>
          </a:xfrm>
          <a:prstGeom prst="rect">
            <a:avLst/>
          </a:prstGeom>
          <a:solidFill>
            <a:srgbClr val="D8E7F6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5522976" y="2432304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TrapContext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0" y="2852928"/>
            <a:ext cx="1627632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5522976" y="2889504"/>
            <a:ext cx="1554480" cy="1298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空洞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86400" y="4224528"/>
            <a:ext cx="1627632" cy="822960"/>
          </a:xfrm>
          <a:prstGeom prst="rect">
            <a:avLst/>
          </a:prstGeom>
          <a:solidFill>
            <a:srgbClr val="D8E7F6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5522976" y="4261104"/>
            <a:ext cx="155448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ELF / stack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156448" y="2240280"/>
            <a:ext cx="2331720" cy="1783080"/>
          </a:xfrm>
          <a:prstGeom prst="rect">
            <a:avLst/>
          </a:prstGeom>
          <a:solidFill>
            <a:srgbClr val="FFFFFF"/>
          </a:solidFill>
          <a:ln w="1524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339328" y="2487168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445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同一张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C445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trampoline 物理页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8284464" y="3218688"/>
            <a:ext cx="2066544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这里存放 __alltraps / __restore 那段汇编代码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2761488" y="1678940"/>
            <a:ext cx="5394960" cy="991108"/>
          </a:xfrm>
          <a:prstGeom prst="line">
            <a:avLst/>
          </a:prstGeom>
          <a:noFill/>
          <a:ln w="19685">
            <a:solidFill>
              <a:srgbClr val="C4453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 flipV="1">
            <a:off x="2761488" y="2907792"/>
            <a:ext cx="5394960" cy="1383538"/>
          </a:xfrm>
          <a:prstGeom prst="line">
            <a:avLst/>
          </a:prstGeom>
          <a:noFill/>
          <a:ln w="18415">
            <a:solidFill>
              <a:srgbClr val="A96832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4901184" y="2121408"/>
            <a:ext cx="3255264" cy="1005840"/>
          </a:xfrm>
          <a:prstGeom prst="line">
            <a:avLst/>
          </a:prstGeom>
          <a:noFill/>
          <a:ln w="18415">
            <a:solidFill>
              <a:srgbClr val="2F5D8A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7114032" y="2121408"/>
            <a:ext cx="1042416" cy="1280160"/>
          </a:xfrm>
          <a:prstGeom prst="line">
            <a:avLst/>
          </a:prstGeom>
          <a:noFill/>
          <a:ln w="18415">
            <a:solidFill>
              <a:srgbClr val="2F5D8A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用户进程高地址页与共享内核高地址栈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43/54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1289304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5D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用户进程 A 地址空间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8096" y="1490472"/>
            <a:ext cx="191109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80" dirty="0" err="1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高地址</a:t>
            </a:r>
            <a:r>
              <a:rPr lang="zh-CN" altLang="en-US" sz="88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空间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768096" y="5413248"/>
            <a:ext cx="191109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80" dirty="0" err="1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低地址</a:t>
            </a:r>
            <a:r>
              <a:rPr lang="zh-CN" altLang="en-US" sz="88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空间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786384" y="1600200"/>
            <a:ext cx="18745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86384" y="1600200"/>
            <a:ext cx="1874520" cy="542109"/>
          </a:xfrm>
          <a:prstGeom prst="rect">
            <a:avLst/>
          </a:prstGeom>
          <a:solidFill>
            <a:srgbClr val="F7D7D5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22960" y="1636776"/>
            <a:ext cx="1801368" cy="46895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45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TRAMPOLINE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86384" y="2142309"/>
            <a:ext cx="1874520" cy="650530"/>
          </a:xfrm>
          <a:prstGeom prst="rect">
            <a:avLst/>
          </a:prstGeom>
          <a:solidFill>
            <a:srgbClr val="D8E7F6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22960" y="2178885"/>
            <a:ext cx="1801368" cy="57737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5D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TrapContext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2104" y="2609959"/>
            <a:ext cx="178308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保存本进程用户态寄存器与 kernel_satp/kernel_sp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786384" y="2792839"/>
            <a:ext cx="1874520" cy="1517904"/>
          </a:xfrm>
          <a:prstGeom prst="rect">
            <a:avLst/>
          </a:prstGeom>
          <a:solidFill>
            <a:srgbClr val="FFFFFF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22960" y="2829415"/>
            <a:ext cx="1801368" cy="1444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空洞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6384" y="4310743"/>
            <a:ext cx="1874520" cy="1084217"/>
          </a:xfrm>
          <a:prstGeom prst="rect">
            <a:avLst/>
          </a:prstGeom>
          <a:solidFill>
            <a:srgbClr val="D8E7F6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22960" y="4347319"/>
            <a:ext cx="1801368" cy="101106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用户程序 / 用户栈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54096" y="1289304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5D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用户进程 B 地址空间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72384" y="1490472"/>
            <a:ext cx="191109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80" dirty="0" err="1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高地址</a:t>
            </a:r>
            <a:r>
              <a:rPr lang="zh-CN" altLang="en-US" sz="88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空间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3072384" y="5413248"/>
            <a:ext cx="191109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80" dirty="0" err="1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低地址</a:t>
            </a:r>
            <a:r>
              <a:rPr lang="zh-CN" altLang="en-US" sz="88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空间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3090672" y="1600200"/>
            <a:ext cx="18745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090672" y="1600200"/>
            <a:ext cx="1874520" cy="542109"/>
          </a:xfrm>
          <a:prstGeom prst="rect">
            <a:avLst/>
          </a:prstGeom>
          <a:solidFill>
            <a:srgbClr val="F7D7D5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127248" y="1636776"/>
            <a:ext cx="1801368" cy="46895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45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TRAMPOLINE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090672" y="2142309"/>
            <a:ext cx="1874520" cy="650530"/>
          </a:xfrm>
          <a:prstGeom prst="rect">
            <a:avLst/>
          </a:prstGeom>
          <a:solidFill>
            <a:srgbClr val="D8E7F6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3127248" y="2178885"/>
            <a:ext cx="1801368" cy="57737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5D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TrapContext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36392" y="2609959"/>
            <a:ext cx="178308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保存本进程用户态寄存器与 kernel_satp/kernel_sp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3090672" y="2792839"/>
            <a:ext cx="1874520" cy="1517904"/>
          </a:xfrm>
          <a:prstGeom prst="rect">
            <a:avLst/>
          </a:prstGeom>
          <a:solidFill>
            <a:srgbClr val="FFFFFF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3127248" y="2829415"/>
            <a:ext cx="1801368" cy="1444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空洞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090672" y="4310743"/>
            <a:ext cx="1874520" cy="1084217"/>
          </a:xfrm>
          <a:prstGeom prst="rect">
            <a:avLst/>
          </a:prstGeom>
          <a:solidFill>
            <a:srgbClr val="D8E7F6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3127248" y="4347319"/>
            <a:ext cx="1801368" cy="101106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用户程序 / 用户栈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55664" y="1152144"/>
            <a:ext cx="245059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968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共享内核地址空间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73952" y="1353312"/>
            <a:ext cx="2414016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高地址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6492240" y="1463040"/>
            <a:ext cx="23774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492240" y="1463040"/>
            <a:ext cx="2377440" cy="392523"/>
          </a:xfrm>
          <a:prstGeom prst="rect">
            <a:avLst/>
          </a:prstGeom>
          <a:solidFill>
            <a:srgbClr val="F7D7D5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528816" y="1499616"/>
            <a:ext cx="2304288" cy="31937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45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TRAMPOLINE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92240" y="1855563"/>
            <a:ext cx="2377440" cy="686915"/>
          </a:xfrm>
          <a:prstGeom prst="rect">
            <a:avLst/>
          </a:prstGeom>
          <a:solidFill>
            <a:srgbClr val="F6E0C9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528816" y="1892139"/>
            <a:ext cx="2304288" cy="6137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968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KStack(app0)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37960" y="2359598"/>
            <a:ext cx="228600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进程 A 陷入内核后用这一段栈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6492240" y="2542478"/>
            <a:ext cx="2377440" cy="294392"/>
          </a:xfrm>
          <a:prstGeom prst="rect">
            <a:avLst/>
          </a:prstGeom>
          <a:solidFill>
            <a:srgbClr val="FFFFFF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528816" y="2579054"/>
            <a:ext cx="2304288" cy="221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C445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guard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92240" y="2836870"/>
            <a:ext cx="2377440" cy="686915"/>
          </a:xfrm>
          <a:prstGeom prst="rect">
            <a:avLst/>
          </a:prstGeom>
          <a:solidFill>
            <a:srgbClr val="F6E0C9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6528816" y="2873446"/>
            <a:ext cx="2304288" cy="6137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968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KStack(app1)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537960" y="3340905"/>
            <a:ext cx="228600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进程 B 陷入内核后用这一段栈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6492240" y="3523785"/>
            <a:ext cx="2377440" cy="1079438"/>
          </a:xfrm>
          <a:prstGeom prst="rect">
            <a:avLst/>
          </a:prstGeom>
          <a:solidFill>
            <a:srgbClr val="FFFFFF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6528816" y="3560361"/>
            <a:ext cx="2304288" cy="100628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中间大空洞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92240" y="4603223"/>
            <a:ext cx="2377440" cy="883177"/>
          </a:xfrm>
          <a:prstGeom prst="rect">
            <a:avLst/>
          </a:prstGeom>
          <a:solidFill>
            <a:srgbClr val="FBFAF5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6528816" y="4639799"/>
            <a:ext cx="2304288" cy="81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.text/.data/直映区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 flipV="1">
            <a:off x="2660904" y="2199020"/>
            <a:ext cx="3831336" cy="268553"/>
          </a:xfrm>
          <a:prstGeom prst="line">
            <a:avLst/>
          </a:prstGeom>
          <a:noFill/>
          <a:ln w="20320">
            <a:solidFill>
              <a:srgbClr val="2F5D8A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4965192" y="2467574"/>
            <a:ext cx="1527048" cy="712754"/>
          </a:xfrm>
          <a:prstGeom prst="line">
            <a:avLst/>
          </a:prstGeom>
          <a:noFill/>
          <a:ln w="20320">
            <a:solidFill>
              <a:srgbClr val="2F5D8A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5074920" y="2423160"/>
            <a:ext cx="102412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C445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Trap 进入内核后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C445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切到 kernel_sp</a:t>
            </a:r>
            <a:endParaRPr lang="en-US" sz="1020" dirty="0"/>
          </a:p>
        </p:txBody>
      </p:sp>
      <p:sp>
        <p:nvSpPr>
          <p:cNvPr id="55" name="Text 53"/>
          <p:cNvSpPr/>
          <p:nvPr/>
        </p:nvSpPr>
        <p:spPr>
          <a:xfrm>
            <a:off x="5138928" y="4069080"/>
            <a:ext cx="102412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C445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Trap 进入内核后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C445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切到 kernel_sp</a:t>
            </a:r>
            <a:endParaRPr lang="en-US" sz="1020" dirty="0"/>
          </a:p>
        </p:txBody>
      </p:sp>
      <p:cxnSp>
        <p:nvCxnSpPr>
          <p:cNvPr id="60" name="直接箭头连接符 59"/>
          <p:cNvCxnSpPr/>
          <p:nvPr/>
        </p:nvCxnSpPr>
        <p:spPr>
          <a:xfrm>
            <a:off x="749808" y="4310743"/>
            <a:ext cx="0" cy="10476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 flipV="1">
            <a:off x="670560" y="1600200"/>
            <a:ext cx="0" cy="1192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9008533" y="4639799"/>
            <a:ext cx="0" cy="810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 flipV="1">
            <a:off x="9008533" y="1463040"/>
            <a:ext cx="0" cy="2005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内核高地址映射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46/54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94944" y="1298448"/>
            <a:ext cx="5120640" cy="2011680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86384" y="1371600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32104" y="1389888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kernel_stack_position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1645920"/>
            <a:ext cx="4901184" cy="15910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4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fn kernel_stack_position(app_id: usize) -&gt; (usize, usize) {</a:t>
            </a:r>
            <a:endParaRPr lang="en-US" sz="845" dirty="0"/>
          </a:p>
          <a:p>
            <a:pPr marL="0" indent="0">
              <a:buNone/>
            </a:pPr>
            <a:r>
              <a:rPr lang="en-US" sz="84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top = TRAMPOLINE - app_id * (KERNEL_STACK_SIZE + PAGE_SIZE);</a:t>
            </a:r>
            <a:endParaRPr lang="en-US" sz="845" dirty="0"/>
          </a:p>
          <a:p>
            <a:pPr marL="0" indent="0">
              <a:buNone/>
            </a:pPr>
            <a:r>
              <a:rPr lang="en-US" sz="84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bottom = top - KERNEL_STACK_SIZE;</a:t>
            </a:r>
            <a:endParaRPr lang="en-US" sz="845" dirty="0"/>
          </a:p>
          <a:p>
            <a:pPr marL="0" indent="0">
              <a:buNone/>
            </a:pPr>
            <a:r>
              <a:rPr lang="en-US" sz="84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(bottom, top)                         // 每个任务一段栈，中间夹一页 guard</a:t>
            </a:r>
            <a:endParaRPr lang="en-US" sz="845" dirty="0"/>
          </a:p>
          <a:p>
            <a:pPr marL="0" indent="0">
              <a:buNone/>
            </a:pPr>
            <a:r>
              <a:rPr lang="en-US" sz="84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45" dirty="0"/>
          </a:p>
          <a:p>
            <a:pPr marL="0" indent="0">
              <a:buNone/>
            </a:pPr>
            <a:endParaRPr lang="en-US" sz="845" dirty="0"/>
          </a:p>
          <a:p>
            <a:pPr marL="0" indent="0">
              <a:buNone/>
            </a:pPr>
            <a:r>
              <a:rPr lang="en-US" sz="84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KERNEL_SPACE.exclusive_access().insert_framed_area(</a:t>
            </a:r>
            <a:endParaRPr lang="en-US" sz="845" dirty="0"/>
          </a:p>
          <a:p>
            <a:pPr marL="0" indent="0">
              <a:buNone/>
            </a:pPr>
            <a:r>
              <a:rPr lang="en-US" sz="84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kernel_stack_bottom.into(),</a:t>
            </a:r>
            <a:endParaRPr lang="en-US" sz="845" dirty="0"/>
          </a:p>
          <a:p>
            <a:pPr marL="0" indent="0">
              <a:buNone/>
            </a:pPr>
            <a:r>
              <a:rPr lang="en-US" sz="84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kernel_stack_top.into(),</a:t>
            </a:r>
            <a:endParaRPr lang="en-US" sz="845" dirty="0"/>
          </a:p>
          <a:p>
            <a:pPr marL="0" indent="0">
              <a:buNone/>
            </a:pPr>
            <a:r>
              <a:rPr lang="en-US" sz="84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MapPermission::R | MapPermission::W,</a:t>
            </a:r>
            <a:endParaRPr lang="en-US" sz="845" dirty="0"/>
          </a:p>
          <a:p>
            <a:pPr marL="0" indent="0">
              <a:buNone/>
            </a:pPr>
            <a:r>
              <a:rPr lang="en-US" sz="84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</a:t>
            </a:r>
            <a:endParaRPr lang="en-US" sz="845" dirty="0"/>
          </a:p>
        </p:txBody>
      </p:sp>
      <p:sp>
        <p:nvSpPr>
          <p:cNvPr id="12" name="Text 10"/>
          <p:cNvSpPr/>
          <p:nvPr/>
        </p:nvSpPr>
        <p:spPr>
          <a:xfrm>
            <a:off x="8065008" y="160934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高地址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65008" y="574243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低地址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44768" y="1627632"/>
            <a:ext cx="1737360" cy="429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144768" y="1627632"/>
            <a:ext cx="1737360" cy="462116"/>
          </a:xfrm>
          <a:prstGeom prst="rect">
            <a:avLst/>
          </a:prstGeom>
          <a:solidFill>
            <a:srgbClr val="F7D7D5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217920" y="1673352"/>
            <a:ext cx="1591056" cy="3706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C445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Trampoline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6144768" y="2089748"/>
            <a:ext cx="1737360" cy="739386"/>
          </a:xfrm>
          <a:prstGeom prst="rect">
            <a:avLst/>
          </a:prstGeom>
          <a:solidFill>
            <a:srgbClr val="F6E0C9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217920" y="2135468"/>
            <a:ext cx="1591056" cy="64794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KStack(app0)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6144768" y="2829134"/>
            <a:ext cx="1737360" cy="323481"/>
          </a:xfrm>
          <a:prstGeom prst="rect">
            <a:avLst/>
          </a:prstGeom>
          <a:solidFill>
            <a:srgbClr val="FFFFFF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217920" y="2874854"/>
            <a:ext cx="1591056" cy="23204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C445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guard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6144768" y="3152615"/>
            <a:ext cx="1737360" cy="739386"/>
          </a:xfrm>
          <a:prstGeom prst="rect">
            <a:avLst/>
          </a:prstGeom>
          <a:solidFill>
            <a:srgbClr val="F6E0C9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217920" y="3198335"/>
            <a:ext cx="1591056" cy="64794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KStack(app1)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6144768" y="3892001"/>
            <a:ext cx="1737360" cy="323481"/>
          </a:xfrm>
          <a:prstGeom prst="rect">
            <a:avLst/>
          </a:prstGeom>
          <a:solidFill>
            <a:srgbClr val="FFFFFF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217920" y="3937721"/>
            <a:ext cx="1591056" cy="23204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C445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guard</a:t>
            </a:r>
            <a:endParaRPr lang="en-US" sz="1140" dirty="0"/>
          </a:p>
        </p:txBody>
      </p:sp>
      <p:sp>
        <p:nvSpPr>
          <p:cNvPr id="25" name="Shape 23"/>
          <p:cNvSpPr/>
          <p:nvPr/>
        </p:nvSpPr>
        <p:spPr>
          <a:xfrm>
            <a:off x="6144768" y="4215482"/>
            <a:ext cx="1737360" cy="739386"/>
          </a:xfrm>
          <a:prstGeom prst="rect">
            <a:avLst/>
          </a:prstGeom>
          <a:solidFill>
            <a:srgbClr val="F6E0C9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217920" y="4261202"/>
            <a:ext cx="1591056" cy="64794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KStack(app2)</a:t>
            </a:r>
            <a:endParaRPr lang="en-US" sz="1140" dirty="0"/>
          </a:p>
        </p:txBody>
      </p:sp>
      <p:sp>
        <p:nvSpPr>
          <p:cNvPr id="27" name="Shape 25"/>
          <p:cNvSpPr/>
          <p:nvPr/>
        </p:nvSpPr>
        <p:spPr>
          <a:xfrm>
            <a:off x="6144768" y="4954868"/>
            <a:ext cx="1737360" cy="323481"/>
          </a:xfrm>
          <a:prstGeom prst="rect">
            <a:avLst/>
          </a:prstGeom>
          <a:solidFill>
            <a:srgbClr val="FFFFFF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217920" y="5000588"/>
            <a:ext cx="1591056" cy="23204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C445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guard</a:t>
            </a: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6144768" y="5278349"/>
            <a:ext cx="1737360" cy="646963"/>
          </a:xfrm>
          <a:prstGeom prst="rect">
            <a:avLst/>
          </a:prstGeom>
          <a:solidFill>
            <a:srgbClr val="FFFFFF"/>
          </a:solidFill>
          <a:ln w="1143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217920" y="5324069"/>
            <a:ext cx="1591056" cy="55552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更多槽位</a:t>
            </a:r>
            <a:endParaRPr lang="en-US" sz="1140" dirty="0"/>
          </a:p>
        </p:txBody>
      </p:sp>
      <p:sp>
        <p:nvSpPr>
          <p:cNvPr id="31" name="Shape 29"/>
          <p:cNvSpPr/>
          <p:nvPr/>
        </p:nvSpPr>
        <p:spPr>
          <a:xfrm>
            <a:off x="768096" y="3657600"/>
            <a:ext cx="5166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13816" y="3703320"/>
            <a:ext cx="896112" cy="676656"/>
          </a:xfrm>
          <a:prstGeom prst="rect">
            <a:avLst/>
          </a:prstGeom>
          <a:solidFill>
            <a:srgbClr val="A96832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59536" y="3758184"/>
            <a:ext cx="804672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先看公式</a:t>
            </a:r>
            <a:endParaRPr lang="en-US" sz="1170" dirty="0"/>
          </a:p>
        </p:txBody>
      </p:sp>
      <p:sp>
        <p:nvSpPr>
          <p:cNvPr id="34" name="Text 32"/>
          <p:cNvSpPr/>
          <p:nvPr/>
        </p:nvSpPr>
        <p:spPr>
          <a:xfrm>
            <a:off x="1810512" y="3730752"/>
            <a:ext cx="406908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`top = TRAMPOLINE - app_id * (KERNEL_STACK_SIZE + PAGE_SIZE)`，说明 app0 的栈顶直接贴着 trampoline，之后每个任务再往下错开“1 段栈 + 1 页 guard”。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68096" y="4517136"/>
            <a:ext cx="5166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13816" y="4562856"/>
            <a:ext cx="896112" cy="676656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59536" y="4617720"/>
            <a:ext cx="804672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guard page</a:t>
            </a:r>
            <a:endParaRPr lang="en-US" sz="1170" dirty="0"/>
          </a:p>
        </p:txBody>
      </p:sp>
      <p:sp>
        <p:nvSpPr>
          <p:cNvPr id="38" name="Text 36"/>
          <p:cNvSpPr/>
          <p:nvPr/>
        </p:nvSpPr>
        <p:spPr>
          <a:xfrm>
            <a:off x="1810512" y="4590288"/>
            <a:ext cx="406908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 kernel stack 之间额外夹一页空洞；一旦内核栈越界，故障会尽早显露，而不是静默覆盖相邻任务栈。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68096" y="5376672"/>
            <a:ext cx="5166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813816" y="5422392"/>
            <a:ext cx="896112" cy="676656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59536" y="5477256"/>
            <a:ext cx="804672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动态插入</a:t>
            </a:r>
            <a:endParaRPr lang="en-US" sz="1170" dirty="0"/>
          </a:p>
        </p:txBody>
      </p:sp>
      <p:sp>
        <p:nvSpPr>
          <p:cNvPr id="42" name="Text 40"/>
          <p:cNvSpPr/>
          <p:nvPr/>
        </p:nvSpPr>
        <p:spPr>
          <a:xfrm>
            <a:off x="1810512" y="5449824"/>
            <a:ext cx="406908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真正把 kernel stack 映射进内核空间的动作发生在 TaskControlBlock::new，而不是 new_kernel。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基本类型与常量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" y="1261872"/>
            <a:ext cx="5321808" cy="2578608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68096" y="1335024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13816" y="1353312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address.rs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" y="1609344"/>
            <a:ext cx="5102352" cy="21579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struct PhysAddr(pub usize);          // 物理字节地址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struct VirtAddr(pub usize);          // 虚拟字节地址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struct PhysPageNum(pub usize);       // 物理页号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struct VirtPageNum(pub usize);       // 虚拟页号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impl VirtAddr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pub fn floor(&amp;self) -&gt; VirtPageNum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VirtPageNum(self.0 / PAGE_SIZE)  // 向下取整到页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pub fn ceil(&amp;self) -&gt; VirtPageNum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VirtPageNum((self.0 - 1 + PAGE_SIZE) / PAGE_SIZE) // 向上补到整页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76656" y="4041648"/>
            <a:ext cx="5321808" cy="1627632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68096" y="4114800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13816" y="4133088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config.rs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86384" y="4389120"/>
            <a:ext cx="5102352" cy="12070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const PAGE_SIZE: usize = 0x1000;     // 4 KiB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const PAGE_SIZE_BITS: usize = 0xc;   // 12 位页内偏移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const TRAMPOLINE: usize = usize::MAX - PAGE_SIZE + 1; // 顶页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const TRAP_CONTEXT_BASE: usize = TRAMPOLINE - PAGE_SIZE; // 顶页下方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const MEMORY_END: usize = 0x88000000; // 直映物理内存上界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6756244" y="1517904"/>
            <a:ext cx="3749040" cy="7406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没直接满世界传 `usize`，</a:t>
            </a:r>
            <a:r>
              <a:rPr lang="en-US" sz="12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而是</a:t>
            </a:r>
            <a:r>
              <a:rPr lang="zh-CN" alt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</a:t>
            </a:r>
            <a:r>
              <a:rPr lang="en-US" altLang="zh-CN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rust</a:t>
            </a:r>
            <a:r>
              <a:rPr lang="zh-CN" alt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的语言特性</a:t>
            </a:r>
            <a:r>
              <a:rPr lang="en-US" altLang="zh-CN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</a:t>
            </a:r>
            <a:r>
              <a:rPr lang="en-US" altLang="zh-CN" sz="12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newtype`</a:t>
            </a:r>
            <a:r>
              <a:rPr lang="en-US" sz="12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</a:t>
            </a: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`VirtAddr / VirtPageNum / PhysAddr / PhysPageNum` 把“字节地址”和“页号”分开。这样看代码时不容易把单位搞混。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56244" y="2478024"/>
            <a:ext cx="3749040" cy="7406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`floor/ceil` ：任何一段虚拟区间，最终都能规整成按页管理的范围。MapArea 正是建立在这个前提上。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56244" y="3438144"/>
            <a:ext cx="3749040" cy="7406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`TRAMPOLINE` 固定在最高页，`TRAP_CONTEXT_BASE` 紧挨着它下一页。后面每当你看到“高地址保留区”，指的就是这里。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56244" y="4398264"/>
            <a:ext cx="3749040" cy="7406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`MEMORY_END` </a:t>
            </a:r>
            <a:r>
              <a:rPr lang="en-US" sz="12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不是虚拟地址上界，而是内核直映的物理内存上界</a:t>
            </a: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三级页表建立 1：vpn.indexes()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76656" y="1243584"/>
            <a:ext cx="5715000" cy="5248656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68096" y="1316736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13816" y="1335024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address.rs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" y="1591056"/>
            <a:ext cx="5495544" cy="4828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impl VirtPageNum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pub fn indexes(&amp;self) -&gt; [usize; 3]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let mut vpn = self.0;            // 先拿到完整 VPN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let mut idx = [0usize; 3];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for i in (0..3 {</a:t>
            </a:r>
            <a:endParaRPr lang="en-US" sz="900" dirty="0"/>
          </a:p>
          <a:p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idx[i] = </a:t>
            </a:r>
            <a:r>
              <a:rPr lang="en-US" sz="900" dirty="0" err="1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vpn</a:t>
            </a: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altLang="zh-CN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).rev() </a:t>
            </a: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&amp; 511;          // 每级取 9 bit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vpn &gt;&gt;= 9;                   // 继续处理更高一级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idx                              // 返回 [VPN2, VPN1, VPN0]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79929" y="2454929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 VPN 其实是 27 bit，正好拆成 3 组 9 bit，对应 Sv39 的三级页表。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9776" y="3072618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循环从高位往低位取，每次 `&amp; 511` 都是在拿 9 bit。最终得到的就是 [VPN2, VPN1, VPN0]。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93408" y="5692139"/>
            <a:ext cx="1386840" cy="548640"/>
          </a:xfrm>
          <a:prstGeom prst="rect">
            <a:avLst/>
          </a:prstGeom>
          <a:solidFill>
            <a:srgbClr val="D8E7F6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729984" y="5838443"/>
            <a:ext cx="131368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VPN[2]</a:t>
            </a:r>
            <a:endParaRPr lang="en-US" sz="1160" dirty="0"/>
          </a:p>
        </p:txBody>
      </p:sp>
      <p:sp>
        <p:nvSpPr>
          <p:cNvPr id="30" name="Text 28"/>
          <p:cNvSpPr/>
          <p:nvPr/>
        </p:nvSpPr>
        <p:spPr>
          <a:xfrm>
            <a:off x="6729984" y="6094475"/>
            <a:ext cx="1313688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 9 bit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8080248" y="5692139"/>
            <a:ext cx="1386840" cy="548640"/>
          </a:xfrm>
          <a:prstGeom prst="rect">
            <a:avLst/>
          </a:prstGeom>
          <a:solidFill>
            <a:srgbClr val="D8E7F6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116824" y="5838443"/>
            <a:ext cx="131368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VPN[1]</a:t>
            </a:r>
            <a:endParaRPr lang="en-US" sz="1160" dirty="0"/>
          </a:p>
        </p:txBody>
      </p:sp>
      <p:sp>
        <p:nvSpPr>
          <p:cNvPr id="33" name="Text 31"/>
          <p:cNvSpPr/>
          <p:nvPr/>
        </p:nvSpPr>
        <p:spPr>
          <a:xfrm>
            <a:off x="8116824" y="6094475"/>
            <a:ext cx="1313688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 9 bit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9467088" y="5692139"/>
            <a:ext cx="1386840" cy="548640"/>
          </a:xfrm>
          <a:prstGeom prst="rect">
            <a:avLst/>
          </a:prstGeom>
          <a:solidFill>
            <a:srgbClr val="D8E7F6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9503664" y="5838443"/>
            <a:ext cx="131368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VPN[0]</a:t>
            </a:r>
            <a:endParaRPr lang="en-US" sz="1160" dirty="0"/>
          </a:p>
        </p:txBody>
      </p:sp>
      <p:sp>
        <p:nvSpPr>
          <p:cNvPr id="36" name="Text 34"/>
          <p:cNvSpPr/>
          <p:nvPr/>
        </p:nvSpPr>
        <p:spPr>
          <a:xfrm>
            <a:off x="9503664" y="6094475"/>
            <a:ext cx="1313688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 9 bit</a:t>
            </a:r>
            <a:endParaRPr lang="en-US" sz="8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三级页表建立 2：find_pte_create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85216" y="667512"/>
            <a:ext cx="89611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 err="1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缺页表页就分配，直到走到叶子</a:t>
            </a:r>
            <a:r>
              <a:rPr lang="en-US" sz="95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PTE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76656" y="1243584"/>
            <a:ext cx="5715000" cy="5248656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68096" y="1316736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13816" y="1335024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page_table.rs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" y="1591056"/>
            <a:ext cx="5495544" cy="4828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fn find_pte_create(&amp;mut self, vpn: VirtPageNum) -&gt; Option&lt;&amp;mut PageTableEntry&gt;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idxs = vpn.indexes();                 // 拆成三级索引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mut ppn = self.root_ppn;             // 从根页表开始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(i, idx) in idxs.iter().enumerate()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let pte = &amp;mut ppn.get_pte_array()[*idx];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 i == 2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return Some(pte);                // 第三级返回叶子 PTE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 !pte.is_valid()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let frame = frame_alloc().unwrap();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*pte = PageTableEntry::new(frame.ppn, PTEFlags::V);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self.frames.push(frame);         // 记住新页表页的所有权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ppn = pte.ppn();                     // 继续走向下一级页表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None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65392" y="1389888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611112" y="1435608"/>
            <a:ext cx="868680" cy="822960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656832" y="1490472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先看整体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7580376" y="1463040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这段代码的叙事顺序非常清晰：从根页表出发，按三级索引一路往下走。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65392" y="2414016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611112" y="2459736"/>
            <a:ext cx="868680" cy="822960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56832" y="2514600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关键动作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7580376" y="2487168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前两级如果 pte invalid，就分配一个新的页表页，并把这个 FrameTracker 推进 `frames`。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65392" y="3438144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611112" y="3483864"/>
            <a:ext cx="868680" cy="822960"/>
          </a:xfrm>
          <a:prstGeom prst="rect">
            <a:avLst/>
          </a:prstGeom>
          <a:solidFill>
            <a:srgbClr val="A96832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656832" y="3538728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为什么推 frames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7580376" y="3511296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因为中间页表页也是页框资源，后面要跟着 PageTable 的生命周期一起释放。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65392" y="4462272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611112" y="4507992"/>
            <a:ext cx="868680" cy="822960"/>
          </a:xfrm>
          <a:prstGeom prst="rect">
            <a:avLst/>
          </a:prstGeom>
          <a:solidFill>
            <a:srgbClr val="536B45"/>
          </a:solidFill>
          <a:ln w="10160">
            <a:solidFill>
              <a:srgbClr val="536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656832" y="4562856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最后一步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7580376" y="4535424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 i == 2 时就不再往下分配，而是返回真正的叶子 PTE 位置，让 map() 去填最终映射。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955280" y="2715768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955280" y="4069080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三级页表建立 3：map / unmap / translate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31/54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" y="1243584"/>
            <a:ext cx="5715000" cy="5248656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68096" y="1316736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13816" y="1335024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page_table.rs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" y="1591056"/>
            <a:ext cx="5495544" cy="4828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fn map(&amp;mut self, vpn: VirtPageNum, ppn: PhysPageNum, flags: PTEFlags) {</a:t>
            </a:r>
            <a:endParaRPr lang="en-US" sz="885" dirty="0"/>
          </a:p>
          <a:p>
            <a:pPr marL="0" indent="0">
              <a:buNone/>
            </a:pPr>
            <a:r>
              <a:rPr lang="en-US" sz="88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pte = self.find_pte_create(vpn).unwrap();</a:t>
            </a:r>
            <a:endParaRPr lang="en-US" sz="885" dirty="0"/>
          </a:p>
          <a:p>
            <a:pPr marL="0" indent="0">
              <a:buNone/>
            </a:pPr>
            <a:r>
              <a:rPr lang="en-US" sz="88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assert!(!pte.is_valid(), "vpn {:?} is mapped before mapping", vpn);</a:t>
            </a:r>
            <a:endParaRPr lang="en-US" sz="885" dirty="0"/>
          </a:p>
          <a:p>
            <a:pPr marL="0" indent="0">
              <a:buNone/>
            </a:pPr>
            <a:r>
              <a:rPr lang="en-US" sz="88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*pte = PageTableEntry::new(ppn, flags | PTEFlags::V); // 叶子 PTE 写入映射</a:t>
            </a:r>
            <a:endParaRPr lang="en-US" sz="885" dirty="0"/>
          </a:p>
          <a:p>
            <a:pPr marL="0" indent="0">
              <a:buNone/>
            </a:pPr>
            <a:r>
              <a:rPr lang="en-US" sz="88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85" dirty="0"/>
          </a:p>
          <a:p>
            <a:pPr marL="0" indent="0">
              <a:buNone/>
            </a:pPr>
            <a:endParaRPr lang="en-US" sz="885" dirty="0"/>
          </a:p>
          <a:p>
            <a:pPr marL="0" indent="0">
              <a:buNone/>
            </a:pPr>
            <a:r>
              <a:rPr lang="en-US" sz="88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fn unmap(&amp;mut self, vpn: VirtPageNum) {</a:t>
            </a:r>
            <a:endParaRPr lang="en-US" sz="885" dirty="0"/>
          </a:p>
          <a:p>
            <a:pPr marL="0" indent="0">
              <a:buNone/>
            </a:pPr>
            <a:r>
              <a:rPr lang="en-US" sz="88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pte = self.find_pte(vpn).unwrap();</a:t>
            </a:r>
            <a:endParaRPr lang="en-US" sz="885" dirty="0"/>
          </a:p>
          <a:p>
            <a:pPr marL="0" indent="0">
              <a:buNone/>
            </a:pPr>
            <a:r>
              <a:rPr lang="en-US" sz="88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assert!(pte.is_valid(), "vpn {:?} is invalid before unmapping", vpn);</a:t>
            </a:r>
            <a:endParaRPr lang="en-US" sz="885" dirty="0"/>
          </a:p>
          <a:p>
            <a:pPr marL="0" indent="0">
              <a:buNone/>
            </a:pPr>
            <a:r>
              <a:rPr lang="en-US" sz="88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*pte = PageTableEntry::empty();         // 只是清空 PTE，不负责页框所有权</a:t>
            </a:r>
            <a:endParaRPr lang="en-US" sz="885" dirty="0"/>
          </a:p>
          <a:p>
            <a:pPr marL="0" indent="0">
              <a:buNone/>
            </a:pPr>
            <a:r>
              <a:rPr lang="en-US" sz="88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85" dirty="0"/>
          </a:p>
          <a:p>
            <a:pPr marL="0" indent="0">
              <a:buNone/>
            </a:pPr>
            <a:endParaRPr lang="en-US" sz="885" dirty="0"/>
          </a:p>
          <a:p>
            <a:pPr marL="0" indent="0">
              <a:buNone/>
            </a:pPr>
            <a:r>
              <a:rPr lang="en-US" sz="88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fn translate(&amp;self, vpn: VirtPageNum) -&gt; Option&lt;PageTableEntry&gt; {</a:t>
            </a:r>
            <a:endParaRPr lang="en-US" sz="885" dirty="0"/>
          </a:p>
          <a:p>
            <a:pPr marL="0" indent="0">
              <a:buNone/>
            </a:pPr>
            <a:r>
              <a:rPr lang="en-US" sz="88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self.find_pte(vpn).map(|pte| *pte)      // 给上层一个 PTE 副本</a:t>
            </a:r>
            <a:endParaRPr lang="en-US" sz="885" dirty="0"/>
          </a:p>
          <a:p>
            <a:pPr marL="0" indent="0">
              <a:buNone/>
            </a:pPr>
            <a:r>
              <a:rPr lang="en-US" sz="88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85" dirty="0"/>
          </a:p>
        </p:txBody>
      </p:sp>
      <p:sp>
        <p:nvSpPr>
          <p:cNvPr id="12" name="Shape 10"/>
          <p:cNvSpPr/>
          <p:nvPr/>
        </p:nvSpPr>
        <p:spPr>
          <a:xfrm>
            <a:off x="6565392" y="1389888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611112" y="1435608"/>
            <a:ext cx="868680" cy="822960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656832" y="1490472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map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7580376" y="1463040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 `find_pte_create()`，再检查原来没映射，最后把新 PPN 和权限写进去。这个顺序对应的正是“建树 -&gt; 落叶子”。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65392" y="2414016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611112" y="2459736"/>
            <a:ext cx="868680" cy="822960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56832" y="2514600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unmap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7580376" y="2487168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这里只是清掉页表项本身，不负责 FrameTracker </a:t>
            </a:r>
            <a:r>
              <a:rPr lang="en-US" sz="12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所有权的最终释放</a:t>
            </a: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65392" y="3438144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611112" y="3483864"/>
            <a:ext cx="868680" cy="822960"/>
          </a:xfrm>
          <a:prstGeom prst="rect">
            <a:avLst/>
          </a:prstGeom>
          <a:solidFill>
            <a:srgbClr val="A96832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656832" y="3538728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translate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7580376" y="3511296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给上层一个 PTE 副本，方便 MemorySet、TaskControlBlock、TrapContext 等代码往上继续串。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PageTable</a:t>
            </a: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2300" b="1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结构体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28/54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" y="1243584"/>
            <a:ext cx="5715000" cy="5248656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68096" y="1316736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13816" y="1335024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page_table.rs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" y="1591056"/>
            <a:ext cx="5495544" cy="4828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struct PageTable {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root_ppn: PhysPageNum,               // 根页表物理页号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frames: Vec&lt;FrameTracker&gt;,           // 软件额外持有的页表页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75" dirty="0"/>
          </a:p>
          <a:p>
            <a:pPr marL="0" indent="0">
              <a:buNone/>
            </a:pP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fn new() -&gt; Self {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frame = </a:t>
            </a:r>
            <a:r>
              <a:rPr lang="en-US" sz="875" dirty="0" err="1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frame_alloc</a:t>
            </a:r>
            <a:r>
              <a:rPr lang="en-US" sz="87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().unwrap();  // 先给根页表分一页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r>
              <a:rPr lang="en-US" sz="875" dirty="0" err="1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PageTable</a:t>
            </a:r>
            <a:r>
              <a:rPr lang="en-US" sz="87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{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root_ppn: frame.ppn,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frames: vec![frame],             // 根页表页也要被持有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75" dirty="0"/>
          </a:p>
          <a:p>
            <a:pPr marL="0" indent="0">
              <a:buNone/>
            </a:pP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fn from_token(satp: usize) -&gt; Self {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 { root_ppn: PhysPageNum::from(satp &amp; ((1usize &lt;&lt; 44) - 1)), frames: Vec::new() }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75" dirty="0"/>
          </a:p>
        </p:txBody>
      </p:sp>
      <p:sp>
        <p:nvSpPr>
          <p:cNvPr id="12" name="Shape 10"/>
          <p:cNvSpPr/>
          <p:nvPr/>
        </p:nvSpPr>
        <p:spPr>
          <a:xfrm>
            <a:off x="6565392" y="1389888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611112" y="1435608"/>
            <a:ext cx="868680" cy="822960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656832" y="1490472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root_ppn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7580376" y="1463040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硬件最关心它，因为 satp 最终只需要知道“根页表在哪一页”。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65392" y="2414016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611112" y="2459736"/>
            <a:ext cx="868680" cy="822960"/>
          </a:xfrm>
          <a:prstGeom prst="rect">
            <a:avLst/>
          </a:prstGeom>
          <a:solidFill>
            <a:srgbClr val="A96832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56832" y="2514600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frames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7580376" y="2487168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这是软件层额外保存的 Vec&lt;FrameTracker&gt;，</a:t>
            </a:r>
            <a:r>
              <a:rPr lang="en-US" sz="12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专门用来持有根页表页和中间页表页</a:t>
            </a: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65392" y="3438144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611112" y="3483864"/>
            <a:ext cx="868680" cy="822960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656832" y="3538728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new()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7580376" y="3511296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构造一张页表时，第一步就是给根页表分配一页并把它记入 frames。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65392" y="4462272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611112" y="4507992"/>
            <a:ext cx="868680" cy="822960"/>
          </a:xfrm>
          <a:prstGeom prst="rect">
            <a:avLst/>
          </a:prstGeom>
          <a:solidFill>
            <a:srgbClr val="536B45"/>
          </a:solidFill>
          <a:ln w="10160">
            <a:solidFill>
              <a:srgbClr val="536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656832" y="4562856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from_token()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7580376" y="4535424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这里只临时包一层 root_ppn，不持有任何页表页所有权，因为它主要用于“借用已有页表去翻译用户指针”。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PageTableEntry 位图详讲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85216" y="667512"/>
            <a:ext cx="89611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这一页开始真正落到硬件位图：PTE 里的每一位最终都要被 MMU 使用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76656" y="1243584"/>
            <a:ext cx="5715000" cy="5248656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68096" y="1316736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13816" y="1335024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page_table.rs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" y="1591056"/>
            <a:ext cx="5495544" cy="4828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struct PageTableEntry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pub bits: usize,                     // 硬件真正看到的位图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fn new(ppn: PhysPageNum, flags: PTEFlags) -&gt; Self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PageTableEntry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bits: ppn.0 &lt;&lt; 10 | flags.bits as usize,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// 高位放 PPN，低 10 位放标志位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fn ppn(&amp;self) -&gt; PhysPageNum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(self.bits &gt;&gt; 10 &amp; ((1usize &lt;&lt; 44) - 1)).into()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65392" y="1389888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611112" y="1435608"/>
            <a:ext cx="868680" cy="822960"/>
          </a:xfrm>
          <a:prstGeom prst="rect">
            <a:avLst/>
          </a:prstGeom>
          <a:solidFill>
            <a:srgbClr val="A96832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656832" y="1490472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先看 bits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7580376" y="1463040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`PageTableEntry.bits` 不是普通字段，它就是最终写在内存里的页表项机器表示。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65392" y="2414016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611112" y="2459736"/>
            <a:ext cx="868680" cy="822960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56832" y="2514600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再看拼装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7580376" y="2487168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`ppn &lt;&lt; 10 | flags` 说明：低位是标志位，高位是物理页号。这里的编码直接对应 Sv39 PTE 格式。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65392" y="3438144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611112" y="3483864"/>
            <a:ext cx="868680" cy="822960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656832" y="3538728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再看 ppn()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7580376" y="3511296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反向取出 PPN 时会做右移和掩码；这让软件既能写位图，也能再把它解释回语义字段。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56832" y="5577840"/>
            <a:ext cx="3464560" cy="566928"/>
          </a:xfrm>
          <a:prstGeom prst="rect">
            <a:avLst/>
          </a:prstGeom>
          <a:solidFill>
            <a:srgbClr val="F3E7B3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693408" y="5724144"/>
            <a:ext cx="339140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PPN</a:t>
            </a:r>
            <a:endParaRPr lang="en-US" sz="1160" dirty="0"/>
          </a:p>
        </p:txBody>
      </p:sp>
      <p:sp>
        <p:nvSpPr>
          <p:cNvPr id="31" name="Text 29"/>
          <p:cNvSpPr/>
          <p:nvPr/>
        </p:nvSpPr>
        <p:spPr>
          <a:xfrm>
            <a:off x="6693408" y="5980176"/>
            <a:ext cx="3391408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53..10 / 44 bits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10121392" y="5577840"/>
            <a:ext cx="386080" cy="566928"/>
          </a:xfrm>
          <a:prstGeom prst="rect">
            <a:avLst/>
          </a:prstGeom>
          <a:solidFill>
            <a:srgbClr val="FBFAF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0152888" y="5577840"/>
            <a:ext cx="31800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RSW</a:t>
            </a:r>
            <a:endParaRPr lang="en-US" sz="1160" dirty="0"/>
          </a:p>
        </p:txBody>
      </p:sp>
      <p:sp>
        <p:nvSpPr>
          <p:cNvPr id="34" name="Text 32"/>
          <p:cNvSpPr/>
          <p:nvPr/>
        </p:nvSpPr>
        <p:spPr>
          <a:xfrm>
            <a:off x="10152888" y="5940318"/>
            <a:ext cx="318008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9..8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10507472" y="5577840"/>
            <a:ext cx="629920" cy="566928"/>
          </a:xfrm>
          <a:prstGeom prst="rect">
            <a:avLst/>
          </a:prstGeom>
          <a:solidFill>
            <a:srgbClr val="D8E7F6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0515600" y="5724144"/>
            <a:ext cx="55676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 A G U X W R V</a:t>
            </a:r>
            <a:endParaRPr lang="en-US" sz="1160" dirty="0"/>
          </a:p>
        </p:txBody>
      </p:sp>
      <p:sp>
        <p:nvSpPr>
          <p:cNvPr id="37" name="Text 35"/>
          <p:cNvSpPr/>
          <p:nvPr/>
        </p:nvSpPr>
        <p:spPr>
          <a:xfrm>
            <a:off x="10515600" y="5980176"/>
            <a:ext cx="556768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7..0</a:t>
            </a:r>
            <a:endParaRPr lang="en-US" sz="880" dirty="0"/>
          </a:p>
        </p:txBody>
      </p:sp>
      <p:sp>
        <p:nvSpPr>
          <p:cNvPr id="38" name="文本框 37"/>
          <p:cNvSpPr txBox="1"/>
          <p:nvPr/>
        </p:nvSpPr>
        <p:spPr>
          <a:xfrm>
            <a:off x="6693408" y="5093677"/>
            <a:ext cx="4443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PageTableEntry</a:t>
            </a: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MapType / MapPermission 详讲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26/54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" y="1243584"/>
            <a:ext cx="5715000" cy="2404872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68096" y="1316736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13816" y="1335024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map_one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" y="1591056"/>
            <a:ext cx="5495544" cy="19842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fn map_one(&amp;mut self, page_table: &amp;mut PageTable, vpn: VirtPageNum)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ppn: PhysPageNum;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match self.map_type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MapType::Identical =&gt; ppn = PhysPageNum(vpn.0), // 内核常见：虚页号直接当物页号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MapType::Framed =&gt;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let frame = frame_alloc().unwrap();         // 用户段常见：新分配物理页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ppn = frame.ppn;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self.data_frames.insert(vpn, frame);        // 把所有权留在 MapArea 里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}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pte_flags = PTEFlags::from_bits(self.map_perm.bits).unwrap();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page_table.map(vpn, ppn, pte_flags);               // 最终落到页表上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76656" y="3803904"/>
            <a:ext cx="5715000" cy="2688336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68096" y="3877056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13816" y="3895344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MapType + MapPermission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86384" y="4151376"/>
            <a:ext cx="5495544" cy="22677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enum MapType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Identical,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Framed,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bitflags!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pub struct MapPermission: u8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const R = 1 &lt;&lt; 1;   // 可读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const W = 1 &lt;&lt; 2;   // 可写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const X = 1 &lt;&lt; 3;   // 可执行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const U = 1 &lt;&lt; 4;   // U 模式可访问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565392" y="1389888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611112" y="1435608"/>
            <a:ext cx="868680" cy="822960"/>
          </a:xfrm>
          <a:prstGeom prst="rect">
            <a:avLst/>
          </a:prstGeom>
          <a:solidFill>
            <a:srgbClr val="A96832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56832" y="1490472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Identical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7580376" y="1463040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适合内核正文和物理内存直映：虚拟页号和物理页号天然对得上，所以不必额外分配叶子页。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65392" y="2414016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611112" y="2459736"/>
            <a:ext cx="868680" cy="822960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656832" y="2514600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Framed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7580376" y="2487168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适合用户程序段、用户栈、TrapContext 等：每个虚拟页都向 frame allocator 申请一个新的物理页。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65392" y="3438144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868680" cy="822960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656832" y="3538728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权限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7580376" y="3511296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`map_perm` 先描述逻辑意义，`map_one` 里再转成 `</a:t>
            </a:r>
            <a:r>
              <a:rPr lang="en-US" sz="12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PTEFlags</a:t>
            </a: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MapArea 结构体详讲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25/54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" y="1243584"/>
            <a:ext cx="5715000" cy="5248656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68096" y="1316736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13816" y="1335024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memory_set.rs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" y="1591056"/>
            <a:ext cx="5495544" cy="4828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struct MapArea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vpn_range: VPNRange,                              // 连续虚拟页范围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data_frames: BTreeMap&lt;VirtPageNum, FrameTracker&gt;, // Framed 叶子页的所有权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map_type: MapType,                                // 直映 or 新分配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map_perm: MapPermission,                          // R/W/X/U 逻辑权限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fn new(start_va: VirtAddr, end_va: VirtAddr, map_type: MapType, map_perm: MapPermission) -&gt; Self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start_vpn: VirtPageNum = start_va.floor();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end_vpn: VirtPageNum = end_va.ceil();        // 注意上界按 ceil 取整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vpn_range: VPNRange::new(start_vpn, end_vpn),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data_frames: BTreeMap::new(),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map_type,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map_perm,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65392" y="1389888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611112" y="1435608"/>
            <a:ext cx="868680" cy="822960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656832" y="1490472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vpn_range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7580376" y="1463040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从构造开始就把字节地址范围规整成页范围，这让后续 map/unmap 可以统一按页循环。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65392" y="2414016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611112" y="2459736"/>
            <a:ext cx="868680" cy="822960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56832" y="2514600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data_frames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7580376" y="2487168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只在 Framed 映射里使用，它不是为了翻译地址，而是为了持有叶子数据页的所有权。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65392" y="3438144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611112" y="3483864"/>
            <a:ext cx="868680" cy="822960"/>
          </a:xfrm>
          <a:prstGeom prst="rect">
            <a:avLst/>
          </a:prstGeom>
          <a:solidFill>
            <a:srgbClr val="A96832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656832" y="3538728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map_type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7580376" y="3511296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决定“虚拟页对应哪个物理页”的策略</a:t>
            </a: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 Identical vs Framed。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65392" y="4462272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611112" y="4507992"/>
            <a:ext cx="868680" cy="822960"/>
          </a:xfrm>
          <a:prstGeom prst="rect">
            <a:avLst/>
          </a:prstGeom>
          <a:solidFill>
            <a:srgbClr val="536B45"/>
          </a:solidFill>
          <a:ln w="10160">
            <a:solidFill>
              <a:srgbClr val="536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656832" y="4562856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map_perm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7580376" y="4535424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先是一层逻辑权限，最终再翻译为 PTEFlags 写进页表。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MemorySet 结构体详讲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24/54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" y="1243584"/>
            <a:ext cx="5715000" cy="5248656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68096" y="1316736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13816" y="1335024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memory_set.rs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" y="1591056"/>
            <a:ext cx="5495544" cy="4828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struct MemorySet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page_table: PageTable,                // 真正喂给硬件的页表树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areas: Vec&lt;MapArea&gt;,                 // 软件视角的“连续映射区间集合”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fn token(&amp;self) -&gt; usize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self.page_table.token()              // 上层只拿 token，不碰内部细节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fn push(&amp;mut self, mut map_area: MapArea, data: Option&lt;&amp;[u8]&gt;)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map_area.map(&amp;mut self.page_table);  // 第一步：先建页表映射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let Some(data) = data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map_area.copy_data(&amp;mut self.page_table, data); // 第二步：再写段数据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self.areas.push(map_area);           // 第三步：把逻辑区间记进 areas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65392" y="1389888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611112" y="1435608"/>
            <a:ext cx="868680" cy="822960"/>
          </a:xfrm>
          <a:prstGeom prst="rect">
            <a:avLst/>
          </a:prstGeom>
          <a:solidFill>
            <a:srgbClr val="A96832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656832" y="1490472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page_table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7580376" y="1463040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这是硬件真正会走的页表树；写 `satp` 时最终依赖的是它，不是 areas。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65392" y="2414016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611112" y="2459736"/>
            <a:ext cx="868680" cy="822960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56832" y="2514600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areas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7580376" y="2487168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这是软件层为了管理方便保存的“连续虚拟区间集合”。没有它，后面 grow/shrink/</a:t>
            </a:r>
            <a:r>
              <a:rPr lang="en-US" sz="12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回收就很难</a:t>
            </a:r>
            <a:r>
              <a:rPr lang="zh-CN" alt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处理</a:t>
            </a: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65392" y="3438144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611112" y="3483864"/>
            <a:ext cx="868680" cy="822960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656832" y="3538728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push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7580376" y="3511296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这一页一定要强调顺序：先 map，再 copy_data，最后把 MapArea 本身放进 areas。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65392" y="4462272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611112" y="4507992"/>
            <a:ext cx="868680" cy="822960"/>
          </a:xfrm>
          <a:prstGeom prst="rect">
            <a:avLst/>
          </a:prstGeom>
          <a:solidFill>
            <a:srgbClr val="536B45"/>
          </a:solidFill>
          <a:ln w="10160">
            <a:solidFill>
              <a:srgbClr val="536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656832" y="4562856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7580376" y="4535424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MemorySet 管的是“整张地址空间的所有资源和映射关系”，不是单个页或单个段。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MapArea 的 RAII 自动回收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37/54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9808" y="1371600"/>
            <a:ext cx="3657600" cy="1143000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41248" y="1444752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86968" y="1463040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MapArea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9536" y="1719072"/>
            <a:ext cx="3438144" cy="7223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data_frames: BTreeMap&lt;VirtPageNum, FrameTracker&gt;, // 每个虚拟页 -&gt; 一个被持有的物理页框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749808" y="2743200"/>
            <a:ext cx="3657600" cy="1170432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41248" y="2816352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86968" y="2834640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map_one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9536" y="3090672"/>
            <a:ext cx="3438144" cy="7498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frame = frame_alloc().unwrap();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ppn = frame.ppn;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self.data_frames.insert(vpn, frame); // 把新页框所有权留在 data_frames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4800600" y="1600200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2F5D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叶子数据页所有权链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4800600" y="1874520"/>
            <a:ext cx="26517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864608" y="1984248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MemorySet.areas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25896" y="2295144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2514600"/>
            <a:ext cx="2651760" cy="420624"/>
          </a:xfrm>
          <a:prstGeom prst="rect">
            <a:avLst/>
          </a:prstGeom>
          <a:solidFill>
            <a:srgbClr val="D8E7F6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864608" y="2624328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MapArea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25896" y="2935224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3154680"/>
            <a:ext cx="2651760" cy="420624"/>
          </a:xfrm>
          <a:prstGeom prst="rect">
            <a:avLst/>
          </a:prstGeom>
          <a:solidFill>
            <a:srgbClr val="DCE9D8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864608" y="3264408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data_frames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25896" y="3575304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3794760"/>
            <a:ext cx="2651760" cy="420624"/>
          </a:xfrm>
          <a:prstGeom prst="rect">
            <a:avLst/>
          </a:prstGeom>
          <a:solidFill>
            <a:srgbClr val="FBFAF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864608" y="3904488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FrameTracker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25896" y="4215384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4434840"/>
            <a:ext cx="2651760" cy="420624"/>
          </a:xfrm>
          <a:prstGeom prst="rect">
            <a:avLst/>
          </a:prstGeom>
          <a:solidFill>
            <a:srgbClr val="F7D7D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864608" y="4544568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frame_dealloc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9808" y="4343400"/>
            <a:ext cx="100584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795528" y="4389120"/>
            <a:ext cx="868680" cy="585216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41248" y="4443984"/>
            <a:ext cx="7772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关键点</a:t>
            </a:r>
            <a:endParaRPr lang="en-US" sz="1170" dirty="0"/>
          </a:p>
        </p:txBody>
      </p:sp>
      <p:sp>
        <p:nvSpPr>
          <p:cNvPr id="34" name="Text 32"/>
          <p:cNvSpPr/>
          <p:nvPr/>
        </p:nvSpPr>
        <p:spPr>
          <a:xfrm>
            <a:off x="1764792" y="4416552"/>
            <a:ext cx="8988552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MapArea 自己没写 Drop，不等于它不回收资源；只要它持有 `BTreeMap&lt;..., FrameTracker&gt;`，当 MapArea 被 drop 时，Map 里的 FrameTracker 也会跟着 drop。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49808" y="5111496"/>
            <a:ext cx="100584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795528" y="5157216"/>
            <a:ext cx="868680" cy="585216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41248" y="5212080"/>
            <a:ext cx="7772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对应资源</a:t>
            </a:r>
            <a:endParaRPr lang="en-US" sz="1170" dirty="0"/>
          </a:p>
        </p:txBody>
      </p:sp>
      <p:sp>
        <p:nvSpPr>
          <p:cNvPr id="38" name="Text 36"/>
          <p:cNvSpPr/>
          <p:nvPr/>
        </p:nvSpPr>
        <p:spPr>
          <a:xfrm>
            <a:off x="1764792" y="5184648"/>
            <a:ext cx="8988552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这条链路只负责 Framed 映射出来的叶子数据页，例如用户段页、用户栈页、TrapContext 页。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49808" y="5879592"/>
            <a:ext cx="100584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764792" y="5952744"/>
            <a:ext cx="8988552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这里回收的是“页框所有权”，不是“页表项本身”。页表项清理和页框回收是两层不同事情。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PageTable 的 RAII 自动回收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38/54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9808" y="1371600"/>
            <a:ext cx="3886200" cy="1097280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41248" y="1444752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86968" y="1463040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PageTable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9536" y="1719072"/>
            <a:ext cx="3666744" cy="6766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struct PageTable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root_ppn: PhysPageNum,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frames: Vec&lt;FrameTracker&gt;, // 持有所有页表页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749808" y="2697480"/>
            <a:ext cx="3886200" cy="1508760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41248" y="2770632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86968" y="2788920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find_pte_create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9536" y="3044952"/>
            <a:ext cx="3666744" cy="10881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!pte.is_valid() {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frame = frame_alloc().unwrap();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*pte = PageTableEntry::new(frame.ppn, PTEFlags::V);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self.frames.push(frame); // 新页表页的所有权也被记住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5074920" y="1600200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A968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页表页所有权链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5074920" y="1874520"/>
            <a:ext cx="26517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138928" y="1984248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MemorySet.page_table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0216" y="2295144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74920" y="2514600"/>
            <a:ext cx="2651760" cy="420624"/>
          </a:xfrm>
          <a:prstGeom prst="rect">
            <a:avLst/>
          </a:prstGeom>
          <a:solidFill>
            <a:srgbClr val="F6E0C9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138928" y="2624328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PageTable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0216" y="2935224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74920" y="3154680"/>
            <a:ext cx="2651760" cy="420624"/>
          </a:xfrm>
          <a:prstGeom prst="rect">
            <a:avLst/>
          </a:prstGeom>
          <a:solidFill>
            <a:srgbClr val="DCE9D8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138928" y="3264408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frames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0216" y="3575304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74920" y="3794760"/>
            <a:ext cx="2651760" cy="420624"/>
          </a:xfrm>
          <a:prstGeom prst="rect">
            <a:avLst/>
          </a:prstGeom>
          <a:solidFill>
            <a:srgbClr val="FBFAF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138928" y="3904488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FrameTracker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0216" y="4215384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65776" y="4233320"/>
            <a:ext cx="2651760" cy="420624"/>
          </a:xfrm>
          <a:prstGeom prst="rect">
            <a:avLst/>
          </a:prstGeom>
          <a:solidFill>
            <a:srgbClr val="F7D7D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5116068" y="4358171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frame_dealloc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4598025"/>
            <a:ext cx="100584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795528" y="4617720"/>
            <a:ext cx="841248" cy="585216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41248" y="4672584"/>
            <a:ext cx="749808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关键点</a:t>
            </a:r>
            <a:endParaRPr lang="en-US" sz="1170" dirty="0"/>
          </a:p>
        </p:txBody>
      </p:sp>
      <p:sp>
        <p:nvSpPr>
          <p:cNvPr id="34" name="Text 32"/>
          <p:cNvSpPr/>
          <p:nvPr/>
        </p:nvSpPr>
        <p:spPr>
          <a:xfrm>
            <a:off x="1737360" y="4645152"/>
            <a:ext cx="9015984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页表树里除了叶子 PTE 指向的数据页，还有“页表页”本身。它们也是页框，也要有人持有。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49808" y="5340096"/>
            <a:ext cx="100584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795528" y="5385816"/>
            <a:ext cx="841248" cy="585216"/>
          </a:xfrm>
          <a:prstGeom prst="rect">
            <a:avLst/>
          </a:prstGeom>
          <a:solidFill>
            <a:srgbClr val="A96832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41248" y="5440680"/>
            <a:ext cx="749808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谁持有</a:t>
            </a:r>
            <a:endParaRPr lang="en-US" sz="1170" dirty="0"/>
          </a:p>
        </p:txBody>
      </p:sp>
      <p:sp>
        <p:nvSpPr>
          <p:cNvPr id="38" name="Text 36"/>
          <p:cNvSpPr/>
          <p:nvPr/>
        </p:nvSpPr>
        <p:spPr>
          <a:xfrm>
            <a:off x="1737360" y="5413248"/>
            <a:ext cx="9015984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`PageTable.frames` 统一持有根页表页和后续按需分配出来的中间页表页。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49808" y="6108192"/>
            <a:ext cx="100584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737360" y="6181344"/>
            <a:ext cx="9015984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MapArea</a:t>
            </a: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持有叶子数据页，PageTable 持有页表页。两条所有权链合起来，整个地址空间的页框资源就闭环了。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合起来看 MemorySet 销毁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39/54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66420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2F5D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数据页侧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841248" y="1938528"/>
            <a:ext cx="26517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05256" y="2048256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MemorySet.areas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66544" y="2359152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" y="2578608"/>
            <a:ext cx="2651760" cy="420624"/>
          </a:xfrm>
          <a:prstGeom prst="rect">
            <a:avLst/>
          </a:prstGeom>
          <a:solidFill>
            <a:srgbClr val="D8E7F6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05256" y="2688336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MapArea.data_frames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66544" y="2999232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" y="3218688"/>
            <a:ext cx="2651760" cy="420624"/>
          </a:xfrm>
          <a:prstGeom prst="rect">
            <a:avLst/>
          </a:prstGeom>
          <a:solidFill>
            <a:srgbClr val="FBFAF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05256" y="3328416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FrameTracker::drop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66544" y="3639312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1248" y="3858768"/>
            <a:ext cx="2651760" cy="420624"/>
          </a:xfrm>
          <a:prstGeom prst="rect">
            <a:avLst/>
          </a:prstGeom>
          <a:solidFill>
            <a:srgbClr val="F7D7D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05256" y="3968496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frame_dealloc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98848" y="166420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A968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页表页侧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4498848" y="1938528"/>
            <a:ext cx="26517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562856" y="2048256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MemorySet.page_table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24144" y="2359152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98848" y="2578608"/>
            <a:ext cx="2651760" cy="420624"/>
          </a:xfrm>
          <a:prstGeom prst="rect">
            <a:avLst/>
          </a:prstGeom>
          <a:solidFill>
            <a:srgbClr val="F6E0C9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562856" y="2688336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PageTable.frames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24144" y="2999232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98848" y="3218688"/>
            <a:ext cx="2651760" cy="420624"/>
          </a:xfrm>
          <a:prstGeom prst="rect">
            <a:avLst/>
          </a:prstGeom>
          <a:solidFill>
            <a:srgbClr val="FBFAF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4562856" y="3328416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FrameTracker::drop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24144" y="3639312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47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98848" y="3858768"/>
            <a:ext cx="2651760" cy="420624"/>
          </a:xfrm>
          <a:prstGeom prst="rect">
            <a:avLst/>
          </a:prstGeom>
          <a:solidFill>
            <a:srgbClr val="F7D7D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562856" y="3968496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frame_dealloc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MemorySet::from_elf 第一步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" y="1243584"/>
            <a:ext cx="5715000" cy="5248656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68096" y="1316736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13816" y="1335024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from_elf / step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" y="1591056"/>
            <a:ext cx="5495544" cy="4828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fn from_elf(elf_data: &amp;[u8]) -&gt; (Self, usize, usize)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mut memory_set = Self::new_bare();   // 先创建一张空地址空间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memory_set.map_trampoline();             // 第一件事：先把顶页跳板映射好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65392" y="1389888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611112" y="1435608"/>
            <a:ext cx="868680" cy="822960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656832" y="1490472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zh-CN" alt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en-US" altLang="zh-CN" sz="1170" dirty="0"/>
          </a:p>
        </p:txBody>
      </p:sp>
      <p:sp>
        <p:nvSpPr>
          <p:cNvPr id="15" name="Text 13"/>
          <p:cNvSpPr/>
          <p:nvPr/>
        </p:nvSpPr>
        <p:spPr>
          <a:xfrm>
            <a:off x="7580376" y="1463040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`new_bare()` 只给出一张空页表，意味着此时用户程序段、栈、TrapContext 都还不存在。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65392" y="2414016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611112" y="2459736"/>
            <a:ext cx="868680" cy="822960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56832" y="2514600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再看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7580376" y="2487168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紧接着先 `map_trampoline()`。这是在为后面的 trap 返回路径预埋“最高地址的共同代码页”。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65392" y="3438144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611112" y="3483864"/>
            <a:ext cx="868680" cy="822960"/>
          </a:xfrm>
          <a:prstGeom prst="rect">
            <a:avLst/>
          </a:prstGeom>
          <a:solidFill>
            <a:srgbClr val="A96832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656832" y="3538728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7580376" y="3511296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如果不先把 trampoline 放好，后面即使地址空间里有了程序和栈，也还没有一条稳定的“切回用户态”的汇编通路。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MemorySet::from_elf 第二步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" y="1243584"/>
            <a:ext cx="5715000" cy="5248656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68096" y="1316736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13816" y="1335024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from_elf / step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" y="1591056"/>
            <a:ext cx="5495544" cy="4828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elf = xmas_elf::ElfFile::new(elf_data).unwrap();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elf_header = elf.header;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magic = elf_header.pt1.magic;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assert_eq!(magic, [0x7f, 0x45, 0x4c, 0x46], "invalid elf!");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ph_count = elf_header.pt2.ph_count(); // 程序头个数：后面逐个检查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mut max_end_vpn = VirtPageNum(0);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65392" y="1389888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611112" y="1435608"/>
            <a:ext cx="868680" cy="822960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656832" y="1490472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zh-CN" alt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en-US" altLang="zh-CN" sz="1170" dirty="0"/>
          </a:p>
        </p:txBody>
      </p:sp>
      <p:sp>
        <p:nvSpPr>
          <p:cNvPr id="15" name="Text 13"/>
          <p:cNvSpPr/>
          <p:nvPr/>
        </p:nvSpPr>
        <p:spPr>
          <a:xfrm>
            <a:off x="7580376" y="1463040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`ElfFile::new` 只是把字节数组解释成 ELF 结构；真正的正确性校验还要看 magic。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65392" y="2414016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611112" y="2459736"/>
            <a:ext cx="868680" cy="822960"/>
          </a:xfrm>
          <a:prstGeom prst="rect">
            <a:avLst/>
          </a:prstGeom>
          <a:solidFill>
            <a:srgbClr val="536B45"/>
          </a:solidFill>
          <a:ln w="10160">
            <a:solidFill>
              <a:srgbClr val="536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56832" y="2514600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zh-CN" alt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en-US" altLang="zh-CN" sz="1170" dirty="0"/>
          </a:p>
        </p:txBody>
      </p:sp>
      <p:sp>
        <p:nvSpPr>
          <p:cNvPr id="19" name="Text 17"/>
          <p:cNvSpPr/>
          <p:nvPr/>
        </p:nvSpPr>
        <p:spPr>
          <a:xfrm>
            <a:off x="7580376" y="2487168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`magic == 0x7F 'E' 'L' 'F'` </a:t>
            </a:r>
            <a:r>
              <a:rPr lang="en-US" sz="12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是最基本的格式确认。不是任意二进制都能拿来走</a:t>
            </a: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from_elf。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65392" y="3438144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611112" y="3483864"/>
            <a:ext cx="868680" cy="822960"/>
          </a:xfrm>
          <a:prstGeom prst="rect">
            <a:avLst/>
          </a:prstGeom>
          <a:solidFill>
            <a:srgbClr val="A96832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656832" y="3538728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然后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7580376" y="3511296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`ph_count` 是后面遍历 program header table 的上界；每个 program header 最终都有可能变成一个 MapArea。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65392" y="4462272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611112" y="4507992"/>
            <a:ext cx="868680" cy="822960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656832" y="4562856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7580376" y="4535424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`max_end_vpn` 提前初始化，是因为后面要一路记录“当前已映射应用镜像的最高页”，给用户栈让位置。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MemorySet::from_elf 第三步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18/54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" y="1243584"/>
            <a:ext cx="5715000" cy="5248656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68096" y="1316736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13816" y="1335024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from_elf / step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" y="1591056"/>
            <a:ext cx="5495544" cy="4828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i in 0..ph_count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let ph = elf.program_header(i).unwrap();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 ph.get_type().unwrap() == xmas_elf::program::Type::Load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let start_va: VirtAddr = (ph.virtual_addr() as usize).into();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let end_va: VirtAddr = ((ph.virtual_addr() + ph.mem_size()) as usize).into();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// 注意：file_size 是文件里已有的数据，mem_size 是运行时要占的总空间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65392" y="1389888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611112" y="1435608"/>
            <a:ext cx="868680" cy="822960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656832" y="1490472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zh-CN" alt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en-US" altLang="zh-CN" sz="1170" dirty="0"/>
          </a:p>
        </p:txBody>
      </p:sp>
      <p:sp>
        <p:nvSpPr>
          <p:cNvPr id="15" name="Text 13"/>
          <p:cNvSpPr/>
          <p:nvPr/>
        </p:nvSpPr>
        <p:spPr>
          <a:xfrm>
            <a:off x="7580376" y="1463040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循环遍历 program header；只有 `Type::Load` 才代表运行时真正要装入地址空间的段。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65392" y="2414016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611112" y="2459736"/>
            <a:ext cx="868680" cy="822960"/>
          </a:xfrm>
          <a:prstGeom prst="rect">
            <a:avLst/>
          </a:prstGeom>
          <a:solidFill>
            <a:srgbClr val="536B45"/>
          </a:solidFill>
          <a:ln w="10160">
            <a:solidFill>
              <a:srgbClr val="536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56832" y="2514600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zh-CN" alt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en-US" altLang="zh-CN" sz="1170" dirty="0"/>
          </a:p>
        </p:txBody>
      </p:sp>
      <p:sp>
        <p:nvSpPr>
          <p:cNvPr id="19" name="Text 17"/>
          <p:cNvSpPr/>
          <p:nvPr/>
        </p:nvSpPr>
        <p:spPr>
          <a:xfrm>
            <a:off x="7580376" y="2487168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`virtual_addr` 决定映射起点，`mem_size` 决定这段在运行时逻辑上总共要占多少空间。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65392" y="3438144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611112" y="3483864"/>
            <a:ext cx="868680" cy="822960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656832" y="3538728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关键点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7580376" y="3511296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`file_size` 和 `mem_size` 不一定相等。尤其是含 `.bss` 的可写段，经常出现“文件里没那么多字节，但运行时要占更大空间”。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MemorySet::from_elf 第四步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" y="1243584"/>
            <a:ext cx="5715000" cy="5248656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68096" y="1316736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13816" y="1335024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from_elf / step 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" y="1591056"/>
            <a:ext cx="5495544" cy="4828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let mut map_perm = MapPermission::U; // 用户程序段默认带 U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let ph_flags = ph.flags();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if ph_flags.is_read() { map_perm |= MapPermission::R;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if ph_flags.is_write() { map_perm |= MapPermission::W;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if ph_flags.is_execute() { map_perm |= MapPermission::X;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// 程序头里的权限，逐位翻译成 MapPermission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65392" y="1389888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611112" y="1435608"/>
            <a:ext cx="868680" cy="822960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656832" y="1490472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zh-CN" alt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en-US" altLang="zh-CN" sz="1170" dirty="0"/>
          </a:p>
          <a:p>
            <a:pPr marL="0" indent="0" algn="ctr">
              <a:buNone/>
            </a:pP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7580376" y="1463040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`MapPermission::U` 先放进去，是因为这里处理的是用户程序段；再在此基础上补 R/W/X。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65392" y="2414016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611112" y="2459736"/>
            <a:ext cx="868680" cy="822960"/>
          </a:xfrm>
          <a:prstGeom prst="rect">
            <a:avLst/>
          </a:prstGeom>
          <a:solidFill>
            <a:srgbClr val="536B45"/>
          </a:solidFill>
          <a:ln w="10160">
            <a:solidFill>
              <a:srgbClr val="536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56832" y="2514600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zh-CN" alt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en-US" altLang="zh-CN" sz="1170" dirty="0"/>
          </a:p>
        </p:txBody>
      </p:sp>
      <p:sp>
        <p:nvSpPr>
          <p:cNvPr id="19" name="Text 17"/>
          <p:cNvSpPr/>
          <p:nvPr/>
        </p:nvSpPr>
        <p:spPr>
          <a:xfrm>
            <a:off x="7580376" y="2487168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`ph.flags()` 来自 ELF 的 program header。也就是说，文件本身就告诉了内核：这段应该可读、可写、还是可执行。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65392" y="3438144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611112" y="3483864"/>
            <a:ext cx="868680" cy="822960"/>
          </a:xfrm>
          <a:prstGeom prst="rect">
            <a:avLst/>
          </a:prstGeom>
          <a:solidFill>
            <a:srgbClr val="A96832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656832" y="3538728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7580376" y="3511296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这让权限设计保持“文件格式 -&gt; 地址空间 -&gt; 页表”同一套语义，而不是在内核里另外猜一遍。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MemorySet::from_elf 第五步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" y="1243584"/>
            <a:ext cx="5715000" cy="5248656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68096" y="1316736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13816" y="1335024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from_elf / step 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" y="1591056"/>
            <a:ext cx="5495544" cy="4828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let map_area = MapArea::new(start_va, end_va, MapType::Framed, map_perm);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max_end_vpn = map_area.vpn_range.get_end();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memory_set.push(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map_area,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Some(&amp;elf.input[ph.offset() as usize..(ph.offset() + ph.file_size()) as usize]),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// 先建映射，再把文件里已有的那部分数据拷进去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65392" y="1389888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611112" y="1435608"/>
            <a:ext cx="868680" cy="822960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656832" y="1490472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先看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7580376" y="1463040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`MapArea::new` 只是先描述“这段虚拟地址区间应该怎么映射”，此时文件数据还没有写进去。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65392" y="2414016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611112" y="2459736"/>
            <a:ext cx="868680" cy="822960"/>
          </a:xfrm>
          <a:prstGeom prst="rect">
            <a:avLst/>
          </a:prstGeom>
          <a:solidFill>
            <a:srgbClr val="536B45"/>
          </a:solidFill>
          <a:ln w="10160">
            <a:solidFill>
              <a:srgbClr val="536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56832" y="2514600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再看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7580376" y="2487168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`max_end_vpn` 立刻更新，是为了记录“应用镜像当前最高到哪一页”，给后面的栈和 heap 起点腾位置。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65392" y="3438144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611112" y="3483864"/>
            <a:ext cx="868680" cy="822960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656832" y="3538728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7580376" y="3511296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`memory_set.push(map_area, Some(...))` 的顺序非常重要：必须先建页表映射，目标页框存在之后，copy_data 才有落点。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MemorySet::from_elf 第六步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21/54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" y="1243584"/>
            <a:ext cx="5715000" cy="5248656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68096" y="1316736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13816" y="1335024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from_elf / step 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" y="1591056"/>
            <a:ext cx="5495544" cy="4828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max_end_va: VirtAddr = max_end_vpn.into();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mut user_stack_bottom: usize = max_end_va.into();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user_stack_bottom += PAGE_SIZE;          // 故意空出一页 guard page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user_stack_top = user_stack_bottom + USER_STACK_SIZE;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memory_set.push(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MapArea::new(user_stack_bottom.into(), user_stack_top.into(),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     MapType::Framed, MapPermission::R | MapPermission::W | MapPermission::U),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None,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);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65392" y="1389888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611112" y="1435608"/>
            <a:ext cx="868680" cy="822960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656832" y="1490472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先看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7580376" y="1463040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`max_end_vpn -&gt; max_end_va` 的转换，把“程序镜像的最高页”变回字节地址，后面才能继续算栈位置。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65392" y="2414016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611112" y="2459736"/>
            <a:ext cx="868680" cy="822960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56832" y="2514600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再看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7580376" y="2487168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`user_stack_bottom += PAGE_SIZE` 就是主动留出一页 guard。它的价值不在于占位置，而在于让栈越界第一时间故障。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65392" y="3438144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611112" y="3483864"/>
            <a:ext cx="868680" cy="822960"/>
          </a:xfrm>
          <a:prstGeom prst="rect">
            <a:avLst/>
          </a:prstGeom>
          <a:solidFill>
            <a:srgbClr val="536B45"/>
          </a:solidFill>
          <a:ln w="10160">
            <a:solidFill>
              <a:srgbClr val="536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656832" y="3538728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然后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7580376" y="3511296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真正的 user stack 是一个 Framed 区间，带 R/W/U。也就是说，用户栈本质上只是地址空间里又一段普通 MapArea。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MemorySet::from_elf 第七步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22/54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" y="1243584"/>
            <a:ext cx="5715000" cy="5248656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68096" y="1316736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13816" y="1335024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from_elf / step 7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" y="1591056"/>
            <a:ext cx="5495544" cy="4828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memory_set.push(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MapArea::new(user_stack_top.into(), user_stack_top.into(),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     MapType::Framed, MapPermission::R | MapPermission::W | MapPermission::U),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None,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); // 这里 start=end，表示“先记录 brk 起点，暂时不分配任何页”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65392" y="1389888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611112" y="1435608"/>
            <a:ext cx="868680" cy="822960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656832" y="1490472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先看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7580376" y="1463040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这里并没有真的给 heap 分配任何页，因为起始时 program break 就在 `user_stack_top`。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65392" y="2414016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611112" y="2459736"/>
            <a:ext cx="868680" cy="822960"/>
          </a:xfrm>
          <a:prstGeom prst="rect">
            <a:avLst/>
          </a:prstGeom>
          <a:solidFill>
            <a:srgbClr val="536B45"/>
          </a:solidFill>
          <a:ln w="10160">
            <a:solidFill>
              <a:srgbClr val="536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56832" y="2514600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再看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7580376" y="2487168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但它又必须被记录下来，否则以后 `sbrk` 就没有一个“从哪开始扩”的锚点。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65392" y="3438144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611112" y="3483864"/>
            <a:ext cx="868680" cy="822960"/>
          </a:xfrm>
          <a:prstGeom prst="rect">
            <a:avLst/>
          </a:prstGeom>
          <a:solidFill>
            <a:srgbClr val="A96832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656832" y="3538728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设计点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7580376" y="3511296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`start=end` 的 MapArea 正好表达“逻辑上这里存在一段可增长区域，但当前长度为 0”。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MemorySet::from_elf 第八步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23/54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" y="1243584"/>
            <a:ext cx="5715000" cy="5248656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68096" y="1316736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13816" y="1335024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from_elf / step 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" y="1591056"/>
            <a:ext cx="5495544" cy="4828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memory_set.push(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MapArea::new(TRAP_CONTEXT_BASE.into(), TRAMPOLINE.into(),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     MapType::Framed, MapPermission::R | MapPermission::W),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None,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); // 顶页下方留给 TrapContext，但不给 U 位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(memory_set, user_stack_top, elf.header.pt2.entry_point() as usize)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返回：整张地址空间、用户栈顶、以及 ELF 入口地址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65392" y="1389888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611112" y="1435608"/>
            <a:ext cx="868680" cy="822960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656832" y="1490472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先看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7580376" y="1463040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TrapContext 放在 `TRAP_CONTEXT_BASE..TRAMPOLINE`，紧贴顶页 trampoline。后面 trap 汇编就用这个固定高地址读写上下文。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65392" y="2414016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611112" y="2459736"/>
            <a:ext cx="868680" cy="822960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56832" y="2514600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再看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7580376" y="2487168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权限只有 R/W，没有 U。这样它位于用户页表中，但不属于“用户程序可直接触碰的普通数据”。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65392" y="3438144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611112" y="3483864"/>
            <a:ext cx="868680" cy="822960"/>
          </a:xfrm>
          <a:prstGeom prst="rect">
            <a:avLst/>
          </a:prstGeom>
          <a:solidFill>
            <a:srgbClr val="A96832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656832" y="3538728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返回值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7580376" y="3511296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函数最后返回三样东西：完整 MemorySet、用户栈顶、ELF 入口地址。后面 TaskControlBlock::new 会把这三样继续接起来。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MemorySet::new_kernel 详讲 1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44/54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" y="1298448"/>
            <a:ext cx="5669280" cy="2121408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04672" y="1371600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50392" y="1389888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new_kernel / top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645920"/>
            <a:ext cx="5449824" cy="17007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fn map_trampoline(&amp;mut self) {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self.page_table.map(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VirtAddr::from(TRAMPOLINE).into(),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PhysAddr::from(strampoline as usize).into(),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PTEFlags::R | PTEFlags::X,       // 顶页只有执行/读取权限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);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75" dirty="0"/>
          </a:p>
          <a:p>
            <a:pPr marL="0" indent="0">
              <a:buNone/>
            </a:pP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fn new_kernel() -&gt; Self {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mut memory_set = Self::new_bare();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memory_set.map_trampoline();         // 共享跳板页先放好</a:t>
            </a:r>
            <a:endParaRPr lang="en-US" sz="875" dirty="0"/>
          </a:p>
        </p:txBody>
      </p:sp>
      <p:sp>
        <p:nvSpPr>
          <p:cNvPr id="12" name="Shape 10"/>
          <p:cNvSpPr/>
          <p:nvPr/>
        </p:nvSpPr>
        <p:spPr>
          <a:xfrm>
            <a:off x="6537960" y="1463040"/>
            <a:ext cx="45720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583680" y="1508760"/>
            <a:ext cx="987552" cy="749808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629400" y="1563624"/>
            <a:ext cx="896112" cy="6766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先看 trampoline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7671816" y="1536192"/>
            <a:ext cx="338328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内核空间同样要映射 trampoline，因为 trap 切换时需要在内核/用户两边都能找到这段顶页汇编。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37960" y="2395728"/>
            <a:ext cx="45720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583680" y="2441448"/>
            <a:ext cx="987552" cy="749808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29400" y="2496312"/>
            <a:ext cx="896112" cy="6766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再看 new_bare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7671816" y="2468880"/>
            <a:ext cx="338328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内核空间和用户空间一样，底层都是从一张空页表开始构建。不同的只是后面 push 的区间内容。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3328416"/>
            <a:ext cx="45720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583680" y="3374136"/>
            <a:ext cx="987552" cy="749808"/>
          </a:xfrm>
          <a:prstGeom prst="rect">
            <a:avLst/>
          </a:prstGeom>
          <a:solidFill>
            <a:srgbClr val="A96832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629400" y="3429000"/>
            <a:ext cx="896112" cy="6766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 Identical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7671816" y="3401568"/>
            <a:ext cx="338328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内核正文和物理内存直映都适合 identical mapping：虚拟地址和物理地址已经按内核布局约定好了，不必额外复制一份。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MemorySet::new_kernel 详讲 2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45/54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" y="1298448"/>
            <a:ext cx="5715000" cy="5230368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04672" y="1371600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50392" y="1389888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new_kernel / pushes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645920"/>
            <a:ext cx="5495544" cy="4809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memory_set.push(MapArea::new((stext as usize).into(), (etext as usize).into(), MapType::Identical, MapPermission::R | MapPermission::X), None);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memory_set.push(MapArea::new((srodata as usize).into(), (erodata as usize).into(), MapType::Identical, MapPermission::R), None);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memory_set.push(MapArea::new((sdata as usize).into(), (edata as usize).into(), MapType::Identical, MapPermission::R | MapPermission::W), None);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memory_set.push(MapArea::new((sbss_with_stack as usize).into(), (ebss as usize).into(), MapType::Identical, MapPermission::R | MapPermission::W), None);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memory_set.push(MapArea::new((ekernel as usize).into(), MEMORY_END.into(), MapType::Identical, MapPermission::R | MapPermission::W), None);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memory_set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37960" y="1481328"/>
            <a:ext cx="45720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583680" y="1527048"/>
            <a:ext cx="1060704" cy="786384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629400" y="1581912"/>
            <a:ext cx="969264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.text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7744968" y="1554480"/>
            <a:ext cx="3310128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R/X：代码必须能执行，但不该可写，否则自修改代码会破坏保护。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37960" y="2450592"/>
            <a:ext cx="45720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583680" y="2496312"/>
            <a:ext cx="1060704" cy="786384"/>
          </a:xfrm>
          <a:prstGeom prst="rect">
            <a:avLst/>
          </a:prstGeom>
          <a:solidFill>
            <a:srgbClr val="536B45"/>
          </a:solidFill>
          <a:ln w="10160">
            <a:solidFill>
              <a:srgbClr val="536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29400" y="2551176"/>
            <a:ext cx="969264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.rodata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7744968" y="2523744"/>
            <a:ext cx="3310128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R：只读常量只需要读取权限，不能写也不需要执行。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3419856"/>
            <a:ext cx="45720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583680" y="3465576"/>
            <a:ext cx="1060704" cy="786384"/>
          </a:xfrm>
          <a:prstGeom prst="rect">
            <a:avLst/>
          </a:prstGeom>
          <a:solidFill>
            <a:srgbClr val="A96832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629400" y="3520440"/>
            <a:ext cx="969264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.data/.bss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7744968" y="3493008"/>
            <a:ext cx="3310128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R/W：它们承载内核里的全局变量和未初始化数据，执行权限应当去掉。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4389120"/>
            <a:ext cx="45720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583680" y="4434840"/>
            <a:ext cx="1060704" cy="786384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629400" y="4489704"/>
            <a:ext cx="969264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[ekernel, MEMORY_END)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7744968" y="4462272"/>
            <a:ext cx="3310128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这部分是物理内存直映，主要给内核做页框管理、页表访问和设备/内存操作。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satp 寄存器位图详讲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808208" y="6506073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33/54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45920"/>
            <a:ext cx="622935" cy="749808"/>
          </a:xfrm>
          <a:prstGeom prst="rect">
            <a:avLst/>
          </a:prstGeom>
          <a:solidFill>
            <a:srgbClr val="F3E7B3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77824" y="1792224"/>
            <a:ext cx="549783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MODE</a:t>
            </a:r>
            <a:endParaRPr lang="en-US" sz="1160" dirty="0"/>
          </a:p>
        </p:txBody>
      </p:sp>
      <p:sp>
        <p:nvSpPr>
          <p:cNvPr id="10" name="Text 8"/>
          <p:cNvSpPr/>
          <p:nvPr/>
        </p:nvSpPr>
        <p:spPr>
          <a:xfrm>
            <a:off x="877824" y="2048256"/>
            <a:ext cx="549783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63..60 / 4 bits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1464183" y="1645920"/>
            <a:ext cx="2491740" cy="749808"/>
          </a:xfrm>
          <a:prstGeom prst="rect">
            <a:avLst/>
          </a:prstGeom>
          <a:solidFill>
            <a:srgbClr val="FBFAF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500759" y="1792224"/>
            <a:ext cx="241858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ASID</a:t>
            </a:r>
            <a:endParaRPr lang="en-US" sz="1160" dirty="0"/>
          </a:p>
        </p:txBody>
      </p:sp>
      <p:sp>
        <p:nvSpPr>
          <p:cNvPr id="13" name="Text 11"/>
          <p:cNvSpPr/>
          <p:nvPr/>
        </p:nvSpPr>
        <p:spPr>
          <a:xfrm>
            <a:off x="1500759" y="2048256"/>
            <a:ext cx="2418588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59..44 / 16 bits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955923" y="1645920"/>
            <a:ext cx="6852285" cy="749808"/>
          </a:xfrm>
          <a:prstGeom prst="rect">
            <a:avLst/>
          </a:prstGeom>
          <a:solidFill>
            <a:srgbClr val="D8E7F6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992499" y="1792224"/>
            <a:ext cx="6779133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PPN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3992499" y="2048256"/>
            <a:ext cx="6779133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43..0 / 44 bits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914400" y="2926080"/>
            <a:ext cx="9829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960120" y="2971800"/>
            <a:ext cx="786384" cy="694944"/>
          </a:xfrm>
          <a:prstGeom prst="rect">
            <a:avLst/>
          </a:prstGeom>
          <a:solidFill>
            <a:srgbClr val="8B6F00"/>
          </a:solidFill>
          <a:ln w="10160">
            <a:solidFill>
              <a:srgbClr val="8B6F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005840" y="3026664"/>
            <a:ext cx="694944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MODE</a:t>
            </a:r>
            <a:endParaRPr lang="en-US" sz="1170" dirty="0"/>
          </a:p>
        </p:txBody>
      </p:sp>
      <p:sp>
        <p:nvSpPr>
          <p:cNvPr id="20" name="Text 18"/>
          <p:cNvSpPr/>
          <p:nvPr/>
        </p:nvSpPr>
        <p:spPr>
          <a:xfrm>
            <a:off x="1847088" y="2999232"/>
            <a:ext cx="8842248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决定分页模式。这里 `8` 表示 Sv39，所以 `token()` 才会写 `8usize &lt;&lt; 60`。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3803904"/>
            <a:ext cx="9829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960120" y="3849624"/>
            <a:ext cx="786384" cy="694944"/>
          </a:xfrm>
          <a:prstGeom prst="rect">
            <a:avLst/>
          </a:prstGeom>
          <a:solidFill>
            <a:srgbClr val="536B45"/>
          </a:solidFill>
          <a:ln w="10160">
            <a:solidFill>
              <a:srgbClr val="536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005840" y="3904488"/>
            <a:ext cx="694944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ASID</a:t>
            </a:r>
            <a:endParaRPr lang="en-US" sz="1170" dirty="0"/>
          </a:p>
        </p:txBody>
      </p:sp>
      <p:sp>
        <p:nvSpPr>
          <p:cNvPr id="24" name="Text 22"/>
          <p:cNvSpPr/>
          <p:nvPr/>
        </p:nvSpPr>
        <p:spPr>
          <a:xfrm>
            <a:off x="1847088" y="3877056"/>
            <a:ext cx="8842248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地址空间 ID。当前这份教学代码没有进一步利用它做更细的 TLB </a:t>
            </a:r>
            <a:r>
              <a:rPr lang="en-US" sz="12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区分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4681728"/>
            <a:ext cx="9829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960120" y="4727448"/>
            <a:ext cx="786384" cy="694944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005840" y="4782312"/>
            <a:ext cx="694944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PPN</a:t>
            </a:r>
            <a:endParaRPr lang="en-US" sz="1170" dirty="0"/>
          </a:p>
        </p:txBody>
      </p:sp>
      <p:sp>
        <p:nvSpPr>
          <p:cNvPr id="28" name="Text 26"/>
          <p:cNvSpPr/>
          <p:nvPr/>
        </p:nvSpPr>
        <p:spPr>
          <a:xfrm>
            <a:off x="1847088" y="4754880"/>
            <a:ext cx="8842248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根页表的物理页号。硬件从这里开始做三级页表遍历，所以 PageTable 的核心字段才是 `root_ppn`。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activate 与 sfence.vma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34/54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" y="1243584"/>
            <a:ext cx="5715000" cy="5248656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68096" y="1316736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13816" y="1335024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page_table.rs + memory_set.rs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" y="1591056"/>
            <a:ext cx="5495544" cy="4828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fn token(&amp;self) -&gt; usize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8usize &lt;&lt; 60 | self.root_ppn.0       // MODE=8(Sv39) | 根页表 PPN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fn activate(&amp;self)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satp = self.page_table.token();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unsafe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satp::write(satp);               // 切到新页表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asm!("sfence.vma");              // 立刻刷新地址翻译缓存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65392" y="1389888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611112" y="1435608"/>
            <a:ext cx="868680" cy="822960"/>
          </a:xfrm>
          <a:prstGeom prst="rect">
            <a:avLst/>
          </a:prstGeom>
          <a:solidFill>
            <a:srgbClr val="A96832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656832" y="1490472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token()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7580376" y="1463040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 MODE 和根页表 PPN 拼成 satp 所需格式；这是“软件侧 PageTable”到“硬件侧 CSR”之间的桥。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65392" y="2414016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611112" y="2459736"/>
            <a:ext cx="868680" cy="822960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56832" y="2514600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activate()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7580376" y="2487168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真正的切表动作发生在 `satp::write(satp)`。从这一刻开始，CPU 之后的虚拟地址翻译都会走新页表。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65392" y="3438144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611112" y="3483864"/>
            <a:ext cx="868680" cy="822960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656832" y="3538728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sfence.vma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7580376" y="3511296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如果不紧跟刷新，旧的 TLB / </a:t>
            </a:r>
            <a:r>
              <a:rPr lang="en-US" sz="12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地址翻译缓存可能还在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内核 -&gt; 用户 -&gt; 内核 的页表切换总流程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49/54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2057400" cy="4526280"/>
          </a:xfrm>
          <a:prstGeom prst="rect">
            <a:avLst/>
          </a:prstGeom>
          <a:solidFill>
            <a:srgbClr val="FFFFFF"/>
          </a:solidFill>
          <a:ln w="1397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32688" y="1755648"/>
            <a:ext cx="18745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5D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用户态执行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24128" y="2295144"/>
            <a:ext cx="73152" cy="73152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170432" y="2194560"/>
            <a:ext cx="1517904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CPU 正在用户页表下取指/访存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24128" y="2953512"/>
            <a:ext cx="73152" cy="73152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170432" y="2852928"/>
            <a:ext cx="1517904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 指向用户栈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24128" y="3611880"/>
            <a:ext cx="73152" cy="73152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170432" y="3511296"/>
            <a:ext cx="1517904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stvec 指向 TRAMPOLINE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90672" y="3429000"/>
            <a:ext cx="960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445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trap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206240" y="1600200"/>
            <a:ext cx="2697480" cy="4526280"/>
          </a:xfrm>
          <a:prstGeom prst="rect">
            <a:avLst/>
          </a:prstGeom>
          <a:solidFill>
            <a:srgbClr val="FFFFFF"/>
          </a:solidFill>
          <a:ln w="1397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315968" y="175564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968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进入内核处理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407408" y="2249424"/>
            <a:ext cx="73152" cy="73152"/>
          </a:xfrm>
          <a:prstGeom prst="ellipse">
            <a:avLst/>
          </a:prstGeom>
          <a:solidFill>
            <a:srgbClr val="A96832"/>
          </a:solidFill>
          <a:ln w="635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553712" y="2148840"/>
            <a:ext cx="2121408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__alltraps 先保存通用寄存器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4407408" y="2834640"/>
            <a:ext cx="73152" cy="73152"/>
          </a:xfrm>
          <a:prstGeom prst="ellipse">
            <a:avLst/>
          </a:prstGeom>
          <a:solidFill>
            <a:srgbClr val="A96832"/>
          </a:solidFill>
          <a:ln w="635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553712" y="2734056"/>
            <a:ext cx="2121408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 TrapContext 里的 kernel_satp 切回内核页表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4407408" y="3419856"/>
            <a:ext cx="73152" cy="73152"/>
          </a:xfrm>
          <a:prstGeom prst="ellipse">
            <a:avLst/>
          </a:prstGeom>
          <a:solidFill>
            <a:srgbClr val="A96832"/>
          </a:solidFill>
          <a:ln w="635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553712" y="3319272"/>
            <a:ext cx="2121408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跳到 trap_handler 做 Rust 侧处理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7059168" y="3429000"/>
            <a:ext cx="1051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445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return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229600" y="1600200"/>
            <a:ext cx="2468880" cy="4526280"/>
          </a:xfrm>
          <a:prstGeom prst="rect">
            <a:avLst/>
          </a:prstGeom>
          <a:solidFill>
            <a:srgbClr val="FFFFFF"/>
          </a:solidFill>
          <a:ln w="1397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339328" y="1755648"/>
            <a:ext cx="22402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45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返回用户态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430768" y="2249424"/>
            <a:ext cx="73152" cy="73152"/>
          </a:xfrm>
          <a:prstGeom prst="ellipse">
            <a:avLst/>
          </a:prstGeom>
          <a:solidFill>
            <a:srgbClr val="C44536"/>
          </a:solidFill>
          <a:ln w="635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577072" y="2148840"/>
            <a:ext cx="1865376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trap_return 准备 a0/a1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8430768" y="2834640"/>
            <a:ext cx="73152" cy="73152"/>
          </a:xfrm>
          <a:prstGeom prst="ellipse">
            <a:avLst/>
          </a:prstGeom>
          <a:solidFill>
            <a:srgbClr val="C44536"/>
          </a:solidFill>
          <a:ln w="635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577072" y="2734056"/>
            <a:ext cx="1865376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__restore 切回用户页表并恢复寄存器</a:t>
            </a:r>
            <a:endParaRPr lang="en-US" sz="1130" dirty="0"/>
          </a:p>
        </p:txBody>
      </p:sp>
      <p:sp>
        <p:nvSpPr>
          <p:cNvPr id="32" name="Shape 30"/>
          <p:cNvSpPr/>
          <p:nvPr/>
        </p:nvSpPr>
        <p:spPr>
          <a:xfrm>
            <a:off x="8430768" y="3419856"/>
            <a:ext cx="73152" cy="73152"/>
          </a:xfrm>
          <a:prstGeom prst="ellipse">
            <a:avLst/>
          </a:prstGeom>
          <a:solidFill>
            <a:srgbClr val="C44536"/>
          </a:solidFill>
          <a:ln w="635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577072" y="3319272"/>
            <a:ext cx="1865376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sret 回到 sepc 指向的用户指令</a:t>
            </a:r>
            <a:endParaRPr lang="en-US" sz="1130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DDD328A-974F-C386-E698-9E1E7D2B2987}"/>
              </a:ext>
            </a:extLst>
          </p:cNvPr>
          <p:cNvCxnSpPr/>
          <p:nvPr/>
        </p:nvCxnSpPr>
        <p:spPr>
          <a:xfrm>
            <a:off x="2997843" y="3229337"/>
            <a:ext cx="1099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83BD0038-BE06-A686-0A83-9783DC100EE5}"/>
              </a:ext>
            </a:extLst>
          </p:cNvPr>
          <p:cNvCxnSpPr/>
          <p:nvPr/>
        </p:nvCxnSpPr>
        <p:spPr>
          <a:xfrm>
            <a:off x="6991109" y="3177251"/>
            <a:ext cx="11196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EAE3ADCD-0B68-CF6C-23B7-2C2D184D278F}"/>
              </a:ext>
            </a:extLst>
          </p:cNvPr>
          <p:cNvCxnSpPr/>
          <p:nvPr/>
        </p:nvCxnSpPr>
        <p:spPr>
          <a:xfrm flipV="1">
            <a:off x="9288684" y="1076446"/>
            <a:ext cx="0" cy="5237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BD0029B8-371D-EFAE-5BA8-E829BEB2ACFB}"/>
              </a:ext>
            </a:extLst>
          </p:cNvPr>
          <p:cNvCxnSpPr/>
          <p:nvPr/>
        </p:nvCxnSpPr>
        <p:spPr>
          <a:xfrm flipH="1">
            <a:off x="1765139" y="1076446"/>
            <a:ext cx="75235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C2AB45FC-121A-D97E-8F95-02548DBD3920}"/>
              </a:ext>
            </a:extLst>
          </p:cNvPr>
          <p:cNvCxnSpPr/>
          <p:nvPr/>
        </p:nvCxnSpPr>
        <p:spPr>
          <a:xfrm>
            <a:off x="1765139" y="1076446"/>
            <a:ext cx="0" cy="523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RISC-V 64 寄存器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47/54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554480"/>
            <a:ext cx="2743200" cy="4297680"/>
          </a:xfrm>
          <a:prstGeom prst="rect">
            <a:avLst/>
          </a:prstGeom>
          <a:solidFill>
            <a:srgbClr val="FFFFFF"/>
          </a:solidFill>
          <a:ln w="1397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96112" y="1682496"/>
            <a:ext cx="259689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5D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特殊寄存器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9264" y="2011680"/>
            <a:ext cx="2450592" cy="640080"/>
          </a:xfrm>
          <a:prstGeom prst="rect">
            <a:avLst/>
          </a:prstGeom>
          <a:solidFill>
            <a:srgbClr val="FBFAF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33272" y="211226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x0 / zero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1033272" y="230428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恒为 0，写入被忽略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969264" y="2880360"/>
            <a:ext cx="2450592" cy="640080"/>
          </a:xfrm>
          <a:prstGeom prst="rect">
            <a:avLst/>
          </a:prstGeom>
          <a:solidFill>
            <a:srgbClr val="FBFAF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033272" y="298094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x1 / ra</a:t>
            </a:r>
            <a:endParaRPr lang="en-US" sz="1210" dirty="0"/>
          </a:p>
        </p:txBody>
      </p:sp>
      <p:sp>
        <p:nvSpPr>
          <p:cNvPr id="15" name="Text 13"/>
          <p:cNvSpPr/>
          <p:nvPr/>
        </p:nvSpPr>
        <p:spPr>
          <a:xfrm>
            <a:off x="1033272" y="31729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返回地址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969264" y="3749040"/>
            <a:ext cx="2450592" cy="640080"/>
          </a:xfrm>
          <a:prstGeom prst="rect">
            <a:avLst/>
          </a:prstGeom>
          <a:solidFill>
            <a:srgbClr val="FBFAF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033272" y="384962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x2 / sp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1033272" y="404164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栈指针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969264" y="4617720"/>
            <a:ext cx="2450592" cy="640080"/>
          </a:xfrm>
          <a:prstGeom prst="rect">
            <a:avLst/>
          </a:prstGeom>
          <a:solidFill>
            <a:srgbClr val="FBFAF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033272" y="471830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x3 / gp, x4 / tp</a:t>
            </a:r>
            <a:endParaRPr lang="en-US" sz="1210" dirty="0"/>
          </a:p>
        </p:txBody>
      </p:sp>
      <p:sp>
        <p:nvSpPr>
          <p:cNvPr id="21" name="Text 19"/>
          <p:cNvSpPr/>
          <p:nvPr/>
        </p:nvSpPr>
        <p:spPr>
          <a:xfrm>
            <a:off x="1033272" y="491032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全局指针 / 线程指针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3977640" y="1554480"/>
            <a:ext cx="2743200" cy="4297680"/>
          </a:xfrm>
          <a:prstGeom prst="rect">
            <a:avLst/>
          </a:prstGeom>
          <a:solidFill>
            <a:srgbClr val="FFFFFF"/>
          </a:solidFill>
          <a:ln w="1397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050792" y="1682496"/>
            <a:ext cx="259689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968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调用约定常见分组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23944" y="2011680"/>
            <a:ext cx="2450592" cy="640080"/>
          </a:xfrm>
          <a:prstGeom prst="rect">
            <a:avLst/>
          </a:prstGeom>
          <a:solidFill>
            <a:srgbClr val="FBFAF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187952" y="211226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a0-a7</a:t>
            </a:r>
            <a:endParaRPr lang="en-US" sz="1210" dirty="0"/>
          </a:p>
        </p:txBody>
      </p:sp>
      <p:sp>
        <p:nvSpPr>
          <p:cNvPr id="26" name="Text 24"/>
          <p:cNvSpPr/>
          <p:nvPr/>
        </p:nvSpPr>
        <p:spPr>
          <a:xfrm>
            <a:off x="4187952" y="230428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参数与返回值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4123944" y="2880360"/>
            <a:ext cx="2450592" cy="640080"/>
          </a:xfrm>
          <a:prstGeom prst="rect">
            <a:avLst/>
          </a:prstGeom>
          <a:solidFill>
            <a:srgbClr val="FBFAF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4187952" y="298094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t0-t6</a:t>
            </a:r>
            <a:endParaRPr lang="en-US" sz="1210" dirty="0"/>
          </a:p>
        </p:txBody>
      </p:sp>
      <p:sp>
        <p:nvSpPr>
          <p:cNvPr id="29" name="Text 27"/>
          <p:cNvSpPr/>
          <p:nvPr/>
        </p:nvSpPr>
        <p:spPr>
          <a:xfrm>
            <a:off x="4187952" y="31729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caller-saved 临时寄存器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4123944" y="3749040"/>
            <a:ext cx="2450592" cy="640080"/>
          </a:xfrm>
          <a:prstGeom prst="rect">
            <a:avLst/>
          </a:prstGeom>
          <a:solidFill>
            <a:srgbClr val="FBFAF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187952" y="384962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s0-s11</a:t>
            </a:r>
            <a:endParaRPr lang="en-US" sz="1210" dirty="0"/>
          </a:p>
        </p:txBody>
      </p:sp>
      <p:sp>
        <p:nvSpPr>
          <p:cNvPr id="32" name="Text 30"/>
          <p:cNvSpPr/>
          <p:nvPr/>
        </p:nvSpPr>
        <p:spPr>
          <a:xfrm>
            <a:off x="4187952" y="404164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callee-saved，被调函数要负责恢复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7543800" y="1554480"/>
            <a:ext cx="2743200" cy="4297680"/>
          </a:xfrm>
          <a:prstGeom prst="rect">
            <a:avLst/>
          </a:prstGeom>
          <a:solidFill>
            <a:srgbClr val="FFFFFF"/>
          </a:solidFill>
          <a:ln w="1397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7616952" y="1682496"/>
            <a:ext cx="259689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45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 trap 直接相关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690104" y="2011680"/>
            <a:ext cx="2450592" cy="640080"/>
          </a:xfrm>
          <a:prstGeom prst="rect">
            <a:avLst/>
          </a:prstGeom>
          <a:solidFill>
            <a:srgbClr val="FBFAF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7754112" y="211226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sstatus</a:t>
            </a:r>
            <a:endParaRPr lang="en-US" sz="1210" dirty="0"/>
          </a:p>
        </p:txBody>
      </p:sp>
      <p:sp>
        <p:nvSpPr>
          <p:cNvPr id="37" name="Text 35"/>
          <p:cNvSpPr/>
          <p:nvPr/>
        </p:nvSpPr>
        <p:spPr>
          <a:xfrm>
            <a:off x="7754112" y="230428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控制当前/返回后的特权级与中断状态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7690104" y="2880360"/>
            <a:ext cx="2450592" cy="640080"/>
          </a:xfrm>
          <a:prstGeom prst="rect">
            <a:avLst/>
          </a:prstGeom>
          <a:solidFill>
            <a:srgbClr val="FBFAF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7754112" y="298094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sepc</a:t>
            </a:r>
            <a:endParaRPr lang="en-US" sz="1210" dirty="0"/>
          </a:p>
        </p:txBody>
      </p:sp>
      <p:sp>
        <p:nvSpPr>
          <p:cNvPr id="40" name="Text 38"/>
          <p:cNvSpPr/>
          <p:nvPr/>
        </p:nvSpPr>
        <p:spPr>
          <a:xfrm>
            <a:off x="7754112" y="31729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记录异常返回地址</a:t>
            </a:r>
            <a:endParaRPr lang="en-US" sz="1060" dirty="0"/>
          </a:p>
        </p:txBody>
      </p:sp>
      <p:sp>
        <p:nvSpPr>
          <p:cNvPr id="41" name="Shape 39"/>
          <p:cNvSpPr/>
          <p:nvPr/>
        </p:nvSpPr>
        <p:spPr>
          <a:xfrm>
            <a:off x="7690104" y="3749040"/>
            <a:ext cx="2450592" cy="640080"/>
          </a:xfrm>
          <a:prstGeom prst="rect">
            <a:avLst/>
          </a:prstGeom>
          <a:solidFill>
            <a:srgbClr val="FBFAF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7754112" y="384962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sscratch</a:t>
            </a:r>
            <a:endParaRPr lang="en-US" sz="1210" dirty="0"/>
          </a:p>
        </p:txBody>
      </p:sp>
      <p:sp>
        <p:nvSpPr>
          <p:cNvPr id="43" name="Text 41"/>
          <p:cNvSpPr/>
          <p:nvPr/>
        </p:nvSpPr>
        <p:spPr>
          <a:xfrm>
            <a:off x="7754112" y="404164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trap 入口常拿来暂存用户 sp / TrapContext VA</a:t>
            </a:r>
            <a:endParaRPr lang="en-US" sz="1060" dirty="0"/>
          </a:p>
        </p:txBody>
      </p:sp>
      <p:sp>
        <p:nvSpPr>
          <p:cNvPr id="44" name="Shape 42"/>
          <p:cNvSpPr/>
          <p:nvPr/>
        </p:nvSpPr>
        <p:spPr>
          <a:xfrm>
            <a:off x="7690104" y="4617720"/>
            <a:ext cx="2450592" cy="640080"/>
          </a:xfrm>
          <a:prstGeom prst="rect">
            <a:avLst/>
          </a:prstGeom>
          <a:solidFill>
            <a:srgbClr val="FBFAF5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7754112" y="471830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satp</a:t>
            </a:r>
            <a:endParaRPr lang="en-US" sz="1210" dirty="0"/>
          </a:p>
        </p:txBody>
      </p:sp>
      <p:sp>
        <p:nvSpPr>
          <p:cNvPr id="46" name="Text 44"/>
          <p:cNvSpPr/>
          <p:nvPr/>
        </p:nvSpPr>
        <p:spPr>
          <a:xfrm>
            <a:off x="7754112" y="491032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当前启用哪张页表</a:t>
            </a:r>
            <a:endParaRPr lang="en-US" sz="106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 -&gt; 内核切换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" y="1243584"/>
            <a:ext cx="5715000" cy="5248656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68096" y="1316736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13816" y="1335024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trap/trap.S / __alltraps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" y="1591056"/>
            <a:ext cx="5495544" cy="4828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__alltraps:</a:t>
            </a:r>
            <a:endParaRPr lang="en-US" sz="855" dirty="0"/>
          </a:p>
          <a:p>
            <a:pPr marL="0" indent="0">
              <a:buNone/>
            </a:pPr>
            <a:r>
              <a:rPr lang="en-US" sz="85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csrrw sp, sscratch, sp              # 交换用户 sp 和 TrapContext 指针</a:t>
            </a:r>
            <a:endParaRPr lang="en-US" sz="855" dirty="0"/>
          </a:p>
          <a:p>
            <a:pPr marL="0" indent="0">
              <a:buNone/>
            </a:pPr>
            <a:r>
              <a:rPr lang="en-US" sz="85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sd x1, 1*8(sp)                      # 保存 ra</a:t>
            </a:r>
            <a:endParaRPr lang="en-US" sz="855" dirty="0"/>
          </a:p>
          <a:p>
            <a:pPr marL="0" indent="0">
              <a:buNone/>
            </a:pPr>
            <a:r>
              <a:rPr lang="en-US" sz="85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sd x3, 3*8(sp)                      # 保存 gp</a:t>
            </a:r>
            <a:endParaRPr lang="en-US" sz="855" dirty="0"/>
          </a:p>
          <a:p>
            <a:pPr marL="0" indent="0">
              <a:buNone/>
            </a:pPr>
            <a:r>
              <a:rPr lang="en-US" sz="85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... 中间省略 x5~x31 的批量保存 ...</a:t>
            </a:r>
            <a:endParaRPr lang="en-US" sz="855" dirty="0"/>
          </a:p>
          <a:p>
            <a:pPr marL="0" indent="0">
              <a:buNone/>
            </a:pPr>
            <a:r>
              <a:rPr lang="en-US" sz="85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csrr t0, sstatus</a:t>
            </a:r>
            <a:endParaRPr lang="en-US" sz="855" dirty="0"/>
          </a:p>
          <a:p>
            <a:pPr marL="0" indent="0">
              <a:buNone/>
            </a:pPr>
            <a:r>
              <a:rPr lang="en-US" sz="85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csrr t1, sepc</a:t>
            </a:r>
            <a:endParaRPr lang="en-US" sz="855" dirty="0"/>
          </a:p>
          <a:p>
            <a:pPr marL="0" indent="0">
              <a:buNone/>
            </a:pPr>
            <a:r>
              <a:rPr lang="en-US" sz="85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sd t0, 32*8(sp)                     # 存 sstatus</a:t>
            </a:r>
            <a:endParaRPr lang="en-US" sz="855" dirty="0"/>
          </a:p>
          <a:p>
            <a:pPr marL="0" indent="0">
              <a:buNone/>
            </a:pPr>
            <a:r>
              <a:rPr lang="en-US" sz="85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sd t1, 33*8(sp)                     # 存 sepc</a:t>
            </a:r>
            <a:endParaRPr lang="en-US" sz="855" dirty="0"/>
          </a:p>
          <a:p>
            <a:pPr marL="0" indent="0">
              <a:buNone/>
            </a:pPr>
            <a:r>
              <a:rPr lang="en-US" sz="85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csrr t2, sscratch</a:t>
            </a:r>
            <a:endParaRPr lang="en-US" sz="855" dirty="0"/>
          </a:p>
          <a:p>
            <a:pPr marL="0" indent="0">
              <a:buNone/>
            </a:pPr>
            <a:r>
              <a:rPr lang="en-US" sz="85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sd t2, 2*8(sp)                      # 把用户 sp 补存到 x[2]</a:t>
            </a:r>
            <a:endParaRPr lang="en-US" sz="855" dirty="0"/>
          </a:p>
          <a:p>
            <a:pPr marL="0" indent="0">
              <a:buNone/>
            </a:pPr>
            <a:r>
              <a:rPr lang="en-US" sz="85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ld t0, 34*8(sp)                     # 读 kernel_satp</a:t>
            </a:r>
            <a:endParaRPr lang="en-US" sz="855" dirty="0"/>
          </a:p>
          <a:p>
            <a:pPr marL="0" indent="0">
              <a:buNone/>
            </a:pPr>
            <a:r>
              <a:rPr lang="en-US" sz="85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ld t1, 36*8(sp)                     # 读 trap_handler</a:t>
            </a:r>
            <a:endParaRPr lang="en-US" sz="855" dirty="0"/>
          </a:p>
          <a:p>
            <a:pPr marL="0" indent="0">
              <a:buNone/>
            </a:pPr>
            <a:r>
              <a:rPr lang="en-US" sz="85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ld sp, 35*8(sp)                     # 切到 kernel_sp</a:t>
            </a:r>
            <a:endParaRPr lang="en-US" sz="855" dirty="0"/>
          </a:p>
          <a:p>
            <a:pPr marL="0" indent="0">
              <a:buNone/>
            </a:pPr>
            <a:r>
              <a:rPr lang="en-US" sz="85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csrw satp, t0</a:t>
            </a:r>
            <a:endParaRPr lang="en-US" sz="855" dirty="0"/>
          </a:p>
          <a:p>
            <a:pPr marL="0" indent="0">
              <a:buNone/>
            </a:pPr>
            <a:r>
              <a:rPr lang="en-US" sz="85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sfence.vma</a:t>
            </a:r>
            <a:endParaRPr lang="en-US" sz="855" dirty="0"/>
          </a:p>
          <a:p>
            <a:pPr marL="0" indent="0">
              <a:buNone/>
            </a:pPr>
            <a:r>
              <a:rPr lang="en-US" sz="85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jr t1                               # 跳到 trap_handler</a:t>
            </a:r>
            <a:endParaRPr lang="en-US" sz="855" dirty="0"/>
          </a:p>
        </p:txBody>
      </p:sp>
      <p:sp>
        <p:nvSpPr>
          <p:cNvPr id="12" name="Shape 10"/>
          <p:cNvSpPr/>
          <p:nvPr/>
        </p:nvSpPr>
        <p:spPr>
          <a:xfrm>
            <a:off x="6565392" y="1389888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611112" y="1435608"/>
            <a:ext cx="868680" cy="822960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656832" y="1490472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第一步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7580376" y="1463040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`csrrw sp, sscratch, sp` 的意义是：把用户态 sp 与事先放好的 TrapContext 地址交换，让后续保存寄存器有固定落点。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65392" y="2414016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611112" y="2459736"/>
            <a:ext cx="868680" cy="822960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56832" y="2514600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第二步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7580376" y="2487168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随后批量保存通用寄存器，再把 `sstatus` 和 `sepc` 也存进 TrapContext。这样“回去所需的状态”全部齐了。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65392" y="3438144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611112" y="3483864"/>
            <a:ext cx="868680" cy="822960"/>
          </a:xfrm>
          <a:prstGeom prst="rect">
            <a:avLst/>
          </a:prstGeom>
          <a:solidFill>
            <a:srgbClr val="A96832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656832" y="3538728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第三步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7580376" y="3511296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 TrapContext 中取出 `kernel_satp` 和 `kernel_sp`，切回内核页表，再把 sp 切到内核栈。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65392" y="4462272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611112" y="4507992"/>
            <a:ext cx="868680" cy="822960"/>
          </a:xfrm>
          <a:prstGeom prst="rect">
            <a:avLst/>
          </a:prstGeom>
          <a:solidFill>
            <a:srgbClr val="536B45"/>
          </a:solidFill>
          <a:ln w="10160">
            <a:solidFill>
              <a:srgbClr val="536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656832" y="4562856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7580376" y="4535424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跳到 trap_handler。从这里开始，才进入 Rust 侧的系统调用/异常处理逻辑。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内核 -&gt; 用户切换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51/54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" y="1243584"/>
            <a:ext cx="5715000" cy="2404872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68096" y="1316736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13816" y="1335024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trap/mod.rs / trap_return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" y="1591056"/>
            <a:ext cx="5495544" cy="19842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86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fn trap_return() -&gt; ! {</a:t>
            </a:r>
            <a:endParaRPr lang="en-US" sz="865" dirty="0"/>
          </a:p>
          <a:p>
            <a:pPr marL="0" indent="0">
              <a:buNone/>
            </a:pPr>
            <a:r>
              <a:rPr lang="en-US" sz="86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set_user_trap_entry();</a:t>
            </a:r>
            <a:endParaRPr lang="en-US" sz="865" dirty="0"/>
          </a:p>
          <a:p>
            <a:pPr marL="0" indent="0">
              <a:buNone/>
            </a:pPr>
            <a:r>
              <a:rPr lang="en-US" sz="86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trap_cx_ptr = TRAP_CONTEXT_BASE;      // a0: TrapContext 的固定 VA</a:t>
            </a:r>
            <a:endParaRPr lang="en-US" sz="865" dirty="0"/>
          </a:p>
          <a:p>
            <a:pPr marL="0" indent="0">
              <a:buNone/>
            </a:pPr>
            <a:r>
              <a:rPr lang="en-US" sz="86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user_satp = current_user_token();     // a1: 用户页表 token</a:t>
            </a:r>
            <a:endParaRPr lang="en-US" sz="865" dirty="0"/>
          </a:p>
          <a:p>
            <a:pPr marL="0" indent="0">
              <a:buNone/>
            </a:pPr>
            <a:r>
              <a:rPr lang="en-US" sz="86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restore_va = __restore as usize - __alltraps as usize + TRAMPOLINE;</a:t>
            </a:r>
            <a:endParaRPr lang="en-US" sz="865" dirty="0"/>
          </a:p>
          <a:p>
            <a:pPr marL="0" indent="0">
              <a:buNone/>
            </a:pPr>
            <a:r>
              <a:rPr lang="en-US" sz="86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unsafe {</a:t>
            </a:r>
            <a:endParaRPr lang="en-US" sz="865" dirty="0"/>
          </a:p>
          <a:p>
            <a:pPr marL="0" indent="0">
              <a:buNone/>
            </a:pPr>
            <a:r>
              <a:rPr lang="en-US" sz="86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asm!(</a:t>
            </a:r>
            <a:endParaRPr lang="en-US" sz="865" dirty="0"/>
          </a:p>
          <a:p>
            <a:pPr marL="0" indent="0">
              <a:buNone/>
            </a:pPr>
            <a:r>
              <a:rPr lang="en-US" sz="86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"fence.i",</a:t>
            </a:r>
            <a:endParaRPr lang="en-US" sz="865" dirty="0"/>
          </a:p>
          <a:p>
            <a:pPr marL="0" indent="0">
              <a:buNone/>
            </a:pPr>
            <a:r>
              <a:rPr lang="en-US" sz="86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"jr {restore_va}",                // 跳到顶页中的 __restore</a:t>
            </a:r>
            <a:endParaRPr lang="en-US" sz="865" dirty="0"/>
          </a:p>
          <a:p>
            <a:pPr marL="0" indent="0">
              <a:buNone/>
            </a:pPr>
            <a:r>
              <a:rPr lang="en-US" sz="86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restore_va = in(reg) restore_va,</a:t>
            </a:r>
            <a:endParaRPr lang="en-US" sz="865" dirty="0"/>
          </a:p>
          <a:p>
            <a:pPr marL="0" indent="0">
              <a:buNone/>
            </a:pPr>
            <a:r>
              <a:rPr lang="en-US" sz="86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in("a0") trap_cx_ptr,</a:t>
            </a:r>
            <a:endParaRPr lang="en-US" sz="865" dirty="0"/>
          </a:p>
          <a:p>
            <a:pPr marL="0" indent="0">
              <a:buNone/>
            </a:pPr>
            <a:r>
              <a:rPr lang="en-US" sz="86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in("a1") user_satp,</a:t>
            </a:r>
            <a:endParaRPr lang="en-US" sz="865" dirty="0"/>
          </a:p>
          <a:p>
            <a:pPr marL="0" indent="0">
              <a:buNone/>
            </a:pPr>
            <a:r>
              <a:rPr lang="en-US" sz="86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options(noreturn)</a:t>
            </a:r>
            <a:endParaRPr lang="en-US" sz="865" dirty="0"/>
          </a:p>
          <a:p>
            <a:pPr marL="0" indent="0">
              <a:buNone/>
            </a:pPr>
            <a:r>
              <a:rPr lang="en-US" sz="86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);</a:t>
            </a:r>
            <a:endParaRPr lang="en-US" sz="865" dirty="0"/>
          </a:p>
          <a:p>
            <a:pPr marL="0" indent="0">
              <a:buNone/>
            </a:pPr>
            <a:r>
              <a:rPr lang="en-US" sz="86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865" dirty="0"/>
          </a:p>
          <a:p>
            <a:pPr marL="0" indent="0">
              <a:buNone/>
            </a:pPr>
            <a:r>
              <a:rPr lang="en-US" sz="86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65" dirty="0"/>
          </a:p>
        </p:txBody>
      </p:sp>
      <p:sp>
        <p:nvSpPr>
          <p:cNvPr id="12" name="Shape 10"/>
          <p:cNvSpPr/>
          <p:nvPr/>
        </p:nvSpPr>
        <p:spPr>
          <a:xfrm>
            <a:off x="676656" y="3803904"/>
            <a:ext cx="5715000" cy="2688336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68096" y="3877056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13816" y="3895344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trap/trap.S / __restore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86384" y="4151376"/>
            <a:ext cx="5495544" cy="22677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6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__restore:</a:t>
            </a:r>
            <a:endParaRPr lang="en-US" sz="865" dirty="0"/>
          </a:p>
          <a:p>
            <a:pPr marL="0" indent="0">
              <a:buNone/>
            </a:pPr>
            <a:r>
              <a:rPr lang="en-US" sz="86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csrw satp, a1                        # 真正切到用户页表</a:t>
            </a:r>
            <a:endParaRPr lang="en-US" sz="865" dirty="0"/>
          </a:p>
          <a:p>
            <a:pPr marL="0" indent="0">
              <a:buNone/>
            </a:pPr>
            <a:r>
              <a:rPr lang="en-US" sz="86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sfence.vma</a:t>
            </a:r>
            <a:endParaRPr lang="en-US" sz="865" dirty="0"/>
          </a:p>
          <a:p>
            <a:pPr marL="0" indent="0">
              <a:buNone/>
            </a:pPr>
            <a:r>
              <a:rPr lang="en-US" sz="86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csrw sscratch, a0                   # 以后再陷入时能找回 TrapContext</a:t>
            </a:r>
            <a:endParaRPr lang="en-US" sz="865" dirty="0"/>
          </a:p>
          <a:p>
            <a:pPr marL="0" indent="0">
              <a:buNone/>
            </a:pPr>
            <a:r>
              <a:rPr lang="en-US" sz="86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mv sp, a0                           # 现在 sp 指向 TrapContext</a:t>
            </a:r>
            <a:endParaRPr lang="en-US" sz="865" dirty="0"/>
          </a:p>
          <a:p>
            <a:pPr marL="0" indent="0">
              <a:buNone/>
            </a:pPr>
            <a:r>
              <a:rPr lang="en-US" sz="86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ld t0, 32*8(sp)</a:t>
            </a:r>
            <a:endParaRPr lang="en-US" sz="865" dirty="0"/>
          </a:p>
          <a:p>
            <a:pPr marL="0" indent="0">
              <a:buNone/>
            </a:pPr>
            <a:r>
              <a:rPr lang="en-US" sz="86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ld t1, 33*8(sp)</a:t>
            </a:r>
            <a:endParaRPr lang="en-US" sz="865" dirty="0"/>
          </a:p>
          <a:p>
            <a:pPr marL="0" indent="0">
              <a:buNone/>
            </a:pPr>
            <a:r>
              <a:rPr lang="en-US" sz="86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csrw sstatus, t0</a:t>
            </a:r>
            <a:endParaRPr lang="en-US" sz="865" dirty="0"/>
          </a:p>
          <a:p>
            <a:pPr marL="0" indent="0">
              <a:buNone/>
            </a:pPr>
            <a:r>
              <a:rPr lang="en-US" sz="86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csrw sepc, t1</a:t>
            </a:r>
            <a:endParaRPr lang="en-US" sz="865" dirty="0"/>
          </a:p>
          <a:p>
            <a:pPr marL="0" indent="0">
              <a:buNone/>
            </a:pPr>
            <a:r>
              <a:rPr lang="en-US" sz="86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... 中间省略通用寄存器恢复 ...</a:t>
            </a:r>
            <a:endParaRPr lang="en-US" sz="865" dirty="0"/>
          </a:p>
          <a:p>
            <a:pPr marL="0" indent="0">
              <a:buNone/>
            </a:pPr>
            <a:r>
              <a:rPr lang="en-US" sz="86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ld sp, 2*8(sp)                      # 恢复用户栈指针</a:t>
            </a:r>
            <a:endParaRPr lang="en-US" sz="865" dirty="0"/>
          </a:p>
          <a:p>
            <a:pPr marL="0" indent="0">
              <a:buNone/>
            </a:pPr>
            <a:r>
              <a:rPr lang="en-US" sz="86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sret                                # 返回用户态</a:t>
            </a:r>
            <a:endParaRPr lang="en-US" sz="865" dirty="0"/>
          </a:p>
        </p:txBody>
      </p:sp>
      <p:sp>
        <p:nvSpPr>
          <p:cNvPr id="16" name="Shape 14"/>
          <p:cNvSpPr/>
          <p:nvPr/>
        </p:nvSpPr>
        <p:spPr>
          <a:xfrm>
            <a:off x="6565392" y="1389888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611112" y="1435608"/>
            <a:ext cx="868680" cy="822960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56832" y="1490472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trap_return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7580376" y="1463040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Rust 侧先准备两样参数：a0 放 TrapContext 的固定 VA，a1 放用户页表 token。然后跳到 trampoline 里的 `__restore`。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65392" y="2414016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611112" y="2459736"/>
            <a:ext cx="868680" cy="822960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656832" y="2514600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__restore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7580376" y="2487168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真正的切页表发生在汇编里：`csrw satp, a1`，随后立刻 `</a:t>
            </a:r>
            <a:r>
              <a:rPr lang="en-US" sz="1200" dirty="0" err="1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sfence.vma</a:t>
            </a: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65392" y="3438144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868680" cy="822960"/>
          </a:xfrm>
          <a:prstGeom prst="rect">
            <a:avLst/>
          </a:prstGeom>
          <a:solidFill>
            <a:srgbClr val="A96832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656832" y="3538728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恢复状态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7580376" y="3511296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 `sstatus/sepc` 和通用寄存器从 TrapContext 里读回，再把 sp 恢复成用户栈指针。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65392" y="4462272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611112" y="4507992"/>
            <a:ext cx="868680" cy="822960"/>
          </a:xfrm>
          <a:prstGeom prst="rect">
            <a:avLst/>
          </a:prstGeom>
          <a:solidFill>
            <a:srgbClr val="536B45"/>
          </a:solidFill>
          <a:ln w="10160">
            <a:solidFill>
              <a:srgbClr val="536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656832" y="4562856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sret</a:t>
            </a:r>
            <a:endParaRPr lang="en-US" sz="1170" dirty="0"/>
          </a:p>
        </p:txBody>
      </p:sp>
      <p:sp>
        <p:nvSpPr>
          <p:cNvPr id="31" name="Text 29"/>
          <p:cNvSpPr/>
          <p:nvPr/>
        </p:nvSpPr>
        <p:spPr>
          <a:xfrm>
            <a:off x="7580376" y="4535424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最后由 `sret` 根据 `sstatus + sepc` 回到用户态继续执行。也就是说，TrapContext 真正定义了“用户态将从哪里继续跑”。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TaskControlBlock::new 与首次进入用户态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555480" y="3291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rCore / os/src/mm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932688"/>
            <a:ext cx="11018520" cy="0"/>
          </a:xfrm>
          <a:prstGeom prst="line">
            <a:avLst/>
          </a:prstGeom>
          <a:noFill/>
          <a:ln w="1524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964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52/54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" y="1243584"/>
            <a:ext cx="5715000" cy="2404872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68096" y="1316736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13816" y="1335024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task/task.rs / TaskControlBlock::new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" y="1591056"/>
            <a:ext cx="5495544" cy="19842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81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fn new(elf_data: &amp;[u8], app_id: usize) -&gt; Self {</a:t>
            </a:r>
            <a:endParaRPr lang="en-US" sz="815" dirty="0"/>
          </a:p>
          <a:p>
            <a:pPr marL="0" indent="0">
              <a:buNone/>
            </a:pPr>
            <a:r>
              <a:rPr lang="en-US" sz="81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(memory_set, user_sp, entry_point) = MemorySet::from_elf(elf_data);</a:t>
            </a:r>
            <a:endParaRPr lang="en-US" sz="815" dirty="0"/>
          </a:p>
          <a:p>
            <a:pPr marL="0" indent="0">
              <a:buNone/>
            </a:pPr>
            <a:r>
              <a:rPr lang="en-US" sz="81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trap_cx_ppn = memory_set.translate(VirtAddr::from(TRAP_CONTEXT_BASE).into()).unwrap().ppn();</a:t>
            </a:r>
            <a:endParaRPr lang="en-US" sz="815" dirty="0"/>
          </a:p>
          <a:p>
            <a:pPr marL="0" indent="0">
              <a:buNone/>
            </a:pPr>
            <a:r>
              <a:rPr lang="en-US" sz="81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(kernel_stack_bottom, kernel_stack_top) = kernel_stack_position(app_id);</a:t>
            </a:r>
            <a:endParaRPr lang="en-US" sz="815" dirty="0"/>
          </a:p>
          <a:p>
            <a:pPr marL="0" indent="0">
              <a:buNone/>
            </a:pPr>
            <a:r>
              <a:rPr lang="en-US" sz="81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KERNEL_SPACE.exclusive_access().insert_framed_area(</a:t>
            </a:r>
            <a:endParaRPr lang="en-US" sz="815" dirty="0"/>
          </a:p>
          <a:p>
            <a:pPr marL="0" indent="0">
              <a:buNone/>
            </a:pPr>
            <a:r>
              <a:rPr lang="en-US" sz="81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kernel_stack_bottom.into(), kernel_stack_top.into(), MapPermission::R | MapPermission::W,</a:t>
            </a:r>
            <a:endParaRPr lang="en-US" sz="815" dirty="0"/>
          </a:p>
          <a:p>
            <a:pPr marL="0" indent="0">
              <a:buNone/>
            </a:pPr>
            <a:r>
              <a:rPr lang="en-US" sz="81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);</a:t>
            </a:r>
            <a:endParaRPr lang="en-US" sz="815" dirty="0"/>
          </a:p>
          <a:p>
            <a:pPr marL="0" indent="0">
              <a:buNone/>
            </a:pPr>
            <a:r>
              <a:rPr lang="en-US" sz="81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task_control_block = Self {</a:t>
            </a:r>
            <a:endParaRPr lang="en-US" sz="815" dirty="0"/>
          </a:p>
          <a:p>
            <a:pPr marL="0" indent="0">
              <a:buNone/>
            </a:pPr>
            <a:r>
              <a:rPr lang="en-US" sz="81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task_status,</a:t>
            </a:r>
            <a:endParaRPr lang="en-US" sz="815" dirty="0"/>
          </a:p>
          <a:p>
            <a:pPr marL="0" indent="0">
              <a:buNone/>
            </a:pPr>
            <a:r>
              <a:rPr lang="en-US" sz="81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task_cx: TaskContext::goto_trap_return(kernel_stack_top),</a:t>
            </a:r>
            <a:endParaRPr lang="en-US" sz="815" dirty="0"/>
          </a:p>
          <a:p>
            <a:pPr marL="0" indent="0">
              <a:buNone/>
            </a:pPr>
            <a:r>
              <a:rPr lang="en-US" sz="81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memory_set, trap_cx_ppn,</a:t>
            </a:r>
            <a:endParaRPr lang="en-US" sz="815" dirty="0"/>
          </a:p>
          <a:p>
            <a:pPr marL="0" indent="0">
              <a:buNone/>
            </a:pPr>
            <a:r>
              <a:rPr lang="en-US" sz="81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base_size: user_sp, heap_bottom: user_sp, program_brk: user_sp,</a:t>
            </a:r>
            <a:endParaRPr lang="en-US" sz="815" dirty="0"/>
          </a:p>
          <a:p>
            <a:pPr marL="0" indent="0">
              <a:buNone/>
            </a:pPr>
            <a:r>
              <a:rPr lang="en-US" sz="81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};</a:t>
            </a:r>
            <a:endParaRPr lang="en-US" sz="815" dirty="0"/>
          </a:p>
          <a:p>
            <a:pPr marL="0" indent="0">
              <a:buNone/>
            </a:pPr>
            <a:r>
              <a:rPr lang="en-US" sz="81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*task_control_block.get_trap_cx() = TrapContext::app_init_context(</a:t>
            </a:r>
            <a:endParaRPr lang="en-US" sz="815" dirty="0"/>
          </a:p>
          <a:p>
            <a:pPr marL="0" indent="0">
              <a:buNone/>
            </a:pPr>
            <a:r>
              <a:rPr lang="en-US" sz="81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entry_point, user_sp, KERNEL_SPACE.exclusive_access().token(), kernel_stack_top, trap_handler as usize,</a:t>
            </a:r>
            <a:endParaRPr lang="en-US" sz="815" dirty="0"/>
          </a:p>
          <a:p>
            <a:pPr marL="0" indent="0">
              <a:buNone/>
            </a:pPr>
            <a:r>
              <a:rPr lang="en-US" sz="81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);</a:t>
            </a:r>
            <a:endParaRPr lang="en-US" sz="815" dirty="0"/>
          </a:p>
          <a:p>
            <a:pPr marL="0" indent="0">
              <a:buNone/>
            </a:pPr>
            <a:r>
              <a:rPr lang="en-US" sz="81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task_control_block</a:t>
            </a:r>
            <a:endParaRPr lang="en-US" sz="815" dirty="0"/>
          </a:p>
          <a:p>
            <a:pPr marL="0" indent="0">
              <a:buNone/>
            </a:pPr>
            <a:r>
              <a:rPr lang="en-US" sz="81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15" dirty="0"/>
          </a:p>
        </p:txBody>
      </p:sp>
      <p:sp>
        <p:nvSpPr>
          <p:cNvPr id="12" name="Shape 10"/>
          <p:cNvSpPr/>
          <p:nvPr/>
        </p:nvSpPr>
        <p:spPr>
          <a:xfrm>
            <a:off x="676656" y="3803904"/>
            <a:ext cx="5715000" cy="2688336"/>
          </a:xfrm>
          <a:prstGeom prst="rect">
            <a:avLst/>
          </a:prstGeom>
          <a:solidFill>
            <a:srgbClr val="EEF3F8"/>
          </a:solidFill>
          <a:ln w="12700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68096" y="3877056"/>
            <a:ext cx="1828800" cy="219456"/>
          </a:xfrm>
          <a:prstGeom prst="rect">
            <a:avLst/>
          </a:prstGeom>
          <a:solidFill>
            <a:srgbClr val="1F2A36"/>
          </a:solidFill>
          <a:ln w="10160">
            <a:solidFill>
              <a:srgbClr val="1F2A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13816" y="3895344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run_first_task + goto_trap_return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86384" y="4151376"/>
            <a:ext cx="5495544" cy="22677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fn run_first_task(&amp;self) -&gt; ! {</a:t>
            </a:r>
            <a:endParaRPr lang="en-US" sz="825" dirty="0"/>
          </a:p>
          <a:p>
            <a:pPr marL="0" indent="0">
              <a:buNone/>
            </a:pPr>
            <a:r>
              <a:rPr lang="en-US" sz="82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mut inner = self.inner.exclusive_access();</a:t>
            </a:r>
            <a:endParaRPr lang="en-US" sz="825" dirty="0"/>
          </a:p>
          <a:p>
            <a:pPr marL="0" indent="0">
              <a:buNone/>
            </a:pPr>
            <a:r>
              <a:rPr lang="en-US" sz="82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next_task = &amp;mut inner.tasks[0];</a:t>
            </a:r>
            <a:endParaRPr lang="en-US" sz="825" dirty="0"/>
          </a:p>
          <a:p>
            <a:pPr marL="0" indent="0">
              <a:buNone/>
            </a:pPr>
            <a:r>
              <a:rPr lang="en-US" sz="82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next_task.task_status = TaskStatus::Running;</a:t>
            </a:r>
            <a:endParaRPr lang="en-US" sz="825" dirty="0"/>
          </a:p>
          <a:p>
            <a:pPr marL="0" indent="0">
              <a:buNone/>
            </a:pPr>
            <a:r>
              <a:rPr lang="en-US" sz="82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next_task_cx_ptr = &amp;next_task.task_cx as *const TaskContext;</a:t>
            </a:r>
            <a:endParaRPr lang="en-US" sz="825" dirty="0"/>
          </a:p>
          <a:p>
            <a:pPr marL="0" indent="0">
              <a:buNone/>
            </a:pPr>
            <a:r>
              <a:rPr lang="en-US" sz="82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drop(inner);</a:t>
            </a:r>
            <a:endParaRPr lang="en-US" sz="825" dirty="0"/>
          </a:p>
          <a:p>
            <a:pPr marL="0" indent="0">
              <a:buNone/>
            </a:pPr>
            <a:r>
              <a:rPr lang="en-US" sz="82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let mut _unused = TaskContext::zero_init();</a:t>
            </a:r>
            <a:endParaRPr lang="en-US" sz="825" dirty="0"/>
          </a:p>
          <a:p>
            <a:pPr marL="0" indent="0">
              <a:buNone/>
            </a:pPr>
            <a:r>
              <a:rPr lang="en-US" sz="82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unsafe { __switch(&amp;mut _unused as *mut _, next_task_cx_ptr); }</a:t>
            </a:r>
            <a:endParaRPr lang="en-US" sz="825" dirty="0"/>
          </a:p>
          <a:p>
            <a:pPr marL="0" indent="0">
              <a:buNone/>
            </a:pPr>
            <a:r>
              <a:rPr lang="en-US" sz="82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panic!("unreachable in run_first_task!");</a:t>
            </a:r>
            <a:endParaRPr lang="en-US" sz="825" dirty="0"/>
          </a:p>
          <a:p>
            <a:pPr marL="0" indent="0">
              <a:buNone/>
            </a:pPr>
            <a:r>
              <a:rPr lang="en-US" sz="82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25" dirty="0"/>
          </a:p>
          <a:p>
            <a:pPr marL="0" indent="0">
              <a:buNone/>
            </a:pPr>
            <a:endParaRPr lang="en-US" sz="825" dirty="0"/>
          </a:p>
          <a:p>
            <a:pPr marL="0" indent="0">
              <a:buNone/>
            </a:pPr>
            <a:r>
              <a:rPr lang="en-US" sz="82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 fn goto_trap_return(kstack_ptr: usize) -&gt; Self {</a:t>
            </a:r>
            <a:endParaRPr lang="en-US" sz="825" dirty="0"/>
          </a:p>
          <a:p>
            <a:pPr marL="0" indent="0">
              <a:buNone/>
            </a:pPr>
            <a:r>
              <a:rPr lang="en-US" sz="82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 { ra: trap_return as usize, sp: kstack_ptr, s: [0; 12] }</a:t>
            </a:r>
            <a:endParaRPr lang="en-US" sz="825" dirty="0"/>
          </a:p>
          <a:p>
            <a:pPr marL="0" indent="0">
              <a:buNone/>
            </a:pPr>
            <a:r>
              <a:rPr lang="en-US" sz="825" dirty="0">
                <a:solidFill>
                  <a:srgbClr val="1F2A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6565392" y="1389888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611112" y="1435608"/>
            <a:ext cx="868680" cy="822960"/>
          </a:xfrm>
          <a:prstGeom prst="rect">
            <a:avLst/>
          </a:prstGeom>
          <a:solidFill>
            <a:srgbClr val="2F5D8A"/>
          </a:solidFill>
          <a:ln w="1016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56832" y="1490472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先看 new()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7580376" y="1463040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它先拿到 `from_elf` 返回的用户地址空间、用户栈顶和入口地址，再在共享内核空间里补上一段 kernel stack。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65392" y="2414016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611112" y="2459736"/>
            <a:ext cx="868680" cy="822960"/>
          </a:xfrm>
          <a:prstGeom prst="rect">
            <a:avLst/>
          </a:prstGeom>
          <a:solidFill>
            <a:srgbClr val="C44536"/>
          </a:solidFill>
          <a:ln w="10160">
            <a:solidFill>
              <a:srgbClr val="C445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656832" y="2514600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再看 TrapContext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7580376" y="2487168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随后把用户入口地址、用户栈顶、内核页表 token、当前任务 kernel stack、以及 trap_handler 一次写进 TrapContext。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65392" y="3438144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868680" cy="822960"/>
          </a:xfrm>
          <a:prstGeom prst="rect">
            <a:avLst/>
          </a:prstGeom>
          <a:solidFill>
            <a:srgbClr val="A96832"/>
          </a:solidFill>
          <a:ln w="10160">
            <a:solidFill>
              <a:srgbClr val="A968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656832" y="3538728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再看首次调度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7580376" y="3511296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`TaskContext::goto_trap_return` 把 ra 预先设成 trap_return，所以第一次任务切换回来时，会先走完整的“返回用户态”路径。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65392" y="4462272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C5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611112" y="4507992"/>
            <a:ext cx="868680" cy="822960"/>
          </a:xfrm>
          <a:prstGeom prst="rect">
            <a:avLst/>
          </a:prstGeom>
          <a:solidFill>
            <a:srgbClr val="536B45"/>
          </a:solidFill>
          <a:ln w="10160">
            <a:solidFill>
              <a:srgbClr val="536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656832" y="4562856"/>
            <a:ext cx="7772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</a:t>
            </a:r>
            <a:endParaRPr lang="en-US" sz="1170" dirty="0"/>
          </a:p>
        </p:txBody>
      </p:sp>
      <p:sp>
        <p:nvSpPr>
          <p:cNvPr id="31" name="Text 29"/>
          <p:cNvSpPr/>
          <p:nvPr/>
        </p:nvSpPr>
        <p:spPr>
          <a:xfrm>
            <a:off x="7580376" y="4535424"/>
            <a:ext cx="3502152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这样“第一次进入用户态”和“之后每次 trap 返回用户态”复用的是同一条机制，不需要另写一套特殊入口。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092325" y="3219450"/>
            <a:ext cx="8007350" cy="7372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3600"/>
              <a:t>感谢观看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7855</Words>
  <Application>Microsoft Office PowerPoint</Application>
  <PresentationFormat>宽屏</PresentationFormat>
  <Paragraphs>1207</Paragraphs>
  <Slides>50</Slides>
  <Notes>48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5" baseType="lpstr">
      <vt:lpstr>微软雅黑</vt:lpstr>
      <vt:lpstr>Arial</vt:lpstr>
      <vt:lpstr>Calibri</vt:lpstr>
      <vt:lpstr>Consolas</vt:lpstr>
      <vt:lpstr>Office Theme</vt:lpstr>
      <vt:lpstr>2026年春夏学期操作系统训练营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rCore Tutorial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rCore 内存管理</dc:title>
  <dc:subject>rCore 内存管理：详讲版</dc:subject>
  <dc:creator>inkbottle Dir</dc:creator>
  <cp:lastModifiedBy>inkbottle Dir</cp:lastModifiedBy>
  <cp:revision>165</cp:revision>
  <dcterms:created xsi:type="dcterms:W3CDTF">2026-03-26T12:19:00Z</dcterms:created>
  <dcterms:modified xsi:type="dcterms:W3CDTF">2026-03-27T13:38:12Z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1D5A9B62D74C45D1B9FEC81795711444_12</vt:lpwstr>
  </property>
</Properties>
</file>